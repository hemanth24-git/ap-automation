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828800"/>
            <a:ext cx="9601200" cy="914400"/>
          </a:xfrm>
          <a:prstGeom prst="rect">
            <a:avLst/>
          </a:prstGeom>
          <a:noFill/>
        </p:spPr>
        <p:txBody>
          <a:bodyPr wrap="square" lIns="0" rIns="0" tIns="0" bIns="0" anchor="t">
            <a:spAutoFit/>
          </a:bodyPr>
          <a:lstStyle/>
          <a:p>
            <a:pPr algn="l">
              <a:lnSpc>
                <a:spcPct val="100000"/>
              </a:lnSpc>
              <a:spcBef>
                <a:spcPts val="0"/>
              </a:spcBef>
              <a:spcAft>
                <a:spcPts val="0"/>
              </a:spcAft>
            </a:pPr>
            <a:r>
              <a:rPr sz="5400" b="0" i="0">
                <a:solidFill>
                  <a:srgbClr val="1A1A1A"/>
                </a:solidFill>
                <a:latin typeface="Georgia"/>
              </a:rPr>
              <a:t>GCC Atlas</a:t>
            </a:r>
          </a:p>
        </p:txBody>
      </p:sp>
      <p:sp>
        <p:nvSpPr>
          <p:cNvPr id="5" name="TextBox 4"/>
          <p:cNvSpPr txBox="1"/>
          <p:nvPr/>
        </p:nvSpPr>
        <p:spPr>
          <a:xfrm>
            <a:off x="1143000" y="2743200"/>
            <a:ext cx="8595360" cy="1005840"/>
          </a:xfrm>
          <a:prstGeom prst="rect">
            <a:avLst/>
          </a:prstGeom>
          <a:noFill/>
        </p:spPr>
        <p:txBody>
          <a:bodyPr wrap="square" lIns="0" rIns="0" tIns="0" bIns="0" anchor="t">
            <a:spAutoFit/>
          </a:bodyPr>
          <a:lstStyle/>
          <a:p>
            <a:pPr algn="l">
              <a:lnSpc>
                <a:spcPct val="136000"/>
              </a:lnSpc>
              <a:spcBef>
                <a:spcPts val="0"/>
              </a:spcBef>
              <a:spcAft>
                <a:spcPts val="0"/>
              </a:spcAft>
            </a:pPr>
            <a:r>
              <a:rPr sz="1900" b="0" i="0">
                <a:solidFill>
                  <a:srgbClr val="4A4845"/>
                </a:solidFill>
                <a:latin typeface="Calibri"/>
              </a:rPr>
              <a:t>A source-backed view of India's GCC activity, built for the people who hire into these centres.</a:t>
            </a:r>
          </a:p>
        </p:txBody>
      </p:sp>
      <p:sp>
        <p:nvSpPr>
          <p:cNvPr id="6" name="Rectangle 5"/>
          <p:cNvSpPr/>
          <p:nvPr/>
        </p:nvSpPr>
        <p:spPr>
          <a:xfrm>
            <a:off x="1143000" y="3977639"/>
            <a:ext cx="1828800" cy="1143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4251960"/>
            <a:ext cx="8595360" cy="1097280"/>
          </a:xfrm>
          <a:prstGeom prst="rect">
            <a:avLst/>
          </a:prstGeom>
          <a:noFill/>
        </p:spPr>
        <p:txBody>
          <a:bodyPr wrap="square" lIns="0" rIns="0" tIns="0" bIns="0" anchor="t">
            <a:spAutoFit/>
          </a:bodyPr>
          <a:lstStyle/>
          <a:p>
            <a:pPr algn="l">
              <a:lnSpc>
                <a:spcPct val="135000"/>
              </a:lnSpc>
              <a:spcBef>
                <a:spcPts val="0"/>
              </a:spcBef>
              <a:spcAft>
                <a:spcPts val="600"/>
              </a:spcAft>
            </a:pPr>
            <a:r>
              <a:rPr sz="1300" b="1" i="0">
                <a:solidFill>
                  <a:srgbClr val="7A7772"/>
                </a:solidFill>
                <a:latin typeface="Calibri"/>
              </a:rPr>
              <a:t>Product Intern Assignment  ·  Flexiple</a:t>
            </a:r>
          </a:p>
          <a:p>
            <a:pPr>
              <a:lnSpc>
                <a:spcPct val="135000"/>
              </a:lnSpc>
              <a:spcBef>
                <a:spcPts val="0"/>
              </a:spcBef>
              <a:spcAft>
                <a:spcPts val="600"/>
              </a:spcAft>
            </a:pPr>
            <a:r>
              <a:rPr sz="1300" b="0" i="0">
                <a:solidFill>
                  <a:srgbClr val="7A7772"/>
                </a:solidFill>
                <a:latin typeface="Calibri"/>
              </a:rPr>
              <a:t>Working prototype + research dataset of 20 publicly reported GCC events</a:t>
            </a:r>
          </a:p>
          <a:p>
            <a:pPr>
              <a:lnSpc>
                <a:spcPct val="135000"/>
              </a:lnSpc>
              <a:spcBef>
                <a:spcPts val="0"/>
              </a:spcBef>
              <a:spcAft>
                <a:spcPts val="600"/>
              </a:spcAft>
            </a:pPr>
            <a:r>
              <a:rPr sz="1300" b="0" i="0">
                <a:solidFill>
                  <a:srgbClr val="7A7772"/>
                </a:solidFill>
                <a:latin typeface="Calibri"/>
              </a:rPr>
              <a:t>Research date 10 October 2026</a:t>
            </a:r>
          </a:p>
        </p:txBody>
      </p:sp>
      <p:sp>
        <p:nvSpPr>
          <p:cNvPr id="8" name="TextBox 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Title</a:t>
            </a:r>
          </a:p>
        </p:txBody>
      </p:sp>
      <p:sp>
        <p:nvSpPr>
          <p:cNvPr id="9" name="TextBox 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THE SHORT VERSION</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What I built, and why</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2595295" cy="32004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783080"/>
            <a:ext cx="2595295"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029968"/>
            <a:ext cx="2229535" cy="2743200"/>
          </a:xfrm>
          <a:prstGeom prst="rect">
            <a:avLst/>
          </a:prstGeom>
          <a:noFill/>
        </p:spPr>
        <p:txBody>
          <a:bodyPr wrap="square" lIns="0" rIns="0" tIns="0" bIns="0" anchor="t">
            <a:spAutoFit/>
          </a:bodyPr>
          <a:lstStyle/>
          <a:p>
            <a:pPr algn="l">
              <a:lnSpc>
                <a:spcPct val="135000"/>
              </a:lnSpc>
              <a:spcBef>
                <a:spcPts val="0"/>
              </a:spcBef>
              <a:spcAft>
                <a:spcPts val="900"/>
              </a:spcAft>
            </a:pPr>
            <a:r>
              <a:rPr sz="1450" b="1" i="0">
                <a:solidFill>
                  <a:srgbClr val="1A1A1A"/>
                </a:solidFill>
                <a:latin typeface="Calibri"/>
              </a:rPr>
              <a:t>The problem</a:t>
            </a:r>
          </a:p>
          <a:p>
            <a:pPr>
              <a:lnSpc>
                <a:spcPct val="142000"/>
              </a:lnSpc>
              <a:spcBef>
                <a:spcPts val="0"/>
              </a:spcBef>
              <a:spcAft>
                <a:spcPts val="600"/>
              </a:spcAft>
            </a:pPr>
            <a:r>
              <a:rPr sz="1200" b="0" i="0">
                <a:solidFill>
                  <a:srgbClr val="4A4845"/>
                </a:solidFill>
                <a:latin typeface="Calibri"/>
              </a:rPr>
              <a:t>Basic facts about India's GCC market are contested. Three credible sources give three different totals, and a single announcement is reported with different dates and different headcounts.</a:t>
            </a:r>
          </a:p>
        </p:txBody>
      </p:sp>
      <p:sp>
        <p:nvSpPr>
          <p:cNvPr id="9" name="Rectangle 8"/>
          <p:cNvSpPr/>
          <p:nvPr/>
        </p:nvSpPr>
        <p:spPr>
          <a:xfrm>
            <a:off x="3436543" y="1783080"/>
            <a:ext cx="2595295" cy="32004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6543" y="1783080"/>
            <a:ext cx="2595295"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9423" y="2029968"/>
            <a:ext cx="2229535" cy="2743200"/>
          </a:xfrm>
          <a:prstGeom prst="rect">
            <a:avLst/>
          </a:prstGeom>
          <a:noFill/>
        </p:spPr>
        <p:txBody>
          <a:bodyPr wrap="square" lIns="0" rIns="0" tIns="0" bIns="0" anchor="t">
            <a:spAutoFit/>
          </a:bodyPr>
          <a:lstStyle/>
          <a:p>
            <a:pPr algn="l">
              <a:lnSpc>
                <a:spcPct val="135000"/>
              </a:lnSpc>
              <a:spcBef>
                <a:spcPts val="0"/>
              </a:spcBef>
              <a:spcAft>
                <a:spcPts val="900"/>
              </a:spcAft>
            </a:pPr>
            <a:r>
              <a:rPr sz="1450" b="1" i="0">
                <a:solidFill>
                  <a:srgbClr val="1A1A1A"/>
                </a:solidFill>
                <a:latin typeface="Calibri"/>
              </a:rPr>
              <a:t>The user</a:t>
            </a:r>
          </a:p>
          <a:p>
            <a:pPr>
              <a:lnSpc>
                <a:spcPct val="142000"/>
              </a:lnSpc>
              <a:spcBef>
                <a:spcPts val="0"/>
              </a:spcBef>
              <a:spcAft>
                <a:spcPts val="600"/>
              </a:spcAft>
            </a:pPr>
            <a:r>
              <a:rPr sz="1200" b="0" i="0">
                <a:solidFill>
                  <a:srgbClr val="4A4845"/>
                </a:solidFill>
                <a:latin typeface="Calibri"/>
              </a:rPr>
              <a:t>Recruitment and staffing firms selling into GCCs — the segment Flexiple itself sits in. They need to know who is building, and to be able to check it before they act on it.</a:t>
            </a:r>
          </a:p>
        </p:txBody>
      </p:sp>
      <p:sp>
        <p:nvSpPr>
          <p:cNvPr id="12" name="Rectangle 11"/>
          <p:cNvSpPr/>
          <p:nvPr/>
        </p:nvSpPr>
        <p:spPr>
          <a:xfrm>
            <a:off x="6159855" y="1783080"/>
            <a:ext cx="2595295" cy="32004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59855" y="1783080"/>
            <a:ext cx="2595295"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2029968"/>
            <a:ext cx="2229535" cy="2743200"/>
          </a:xfrm>
          <a:prstGeom prst="rect">
            <a:avLst/>
          </a:prstGeom>
          <a:noFill/>
        </p:spPr>
        <p:txBody>
          <a:bodyPr wrap="square" lIns="0" rIns="0" tIns="0" bIns="0" anchor="t">
            <a:spAutoFit/>
          </a:bodyPr>
          <a:lstStyle/>
          <a:p>
            <a:pPr algn="l">
              <a:lnSpc>
                <a:spcPct val="135000"/>
              </a:lnSpc>
              <a:spcBef>
                <a:spcPts val="0"/>
              </a:spcBef>
              <a:spcAft>
                <a:spcPts val="900"/>
              </a:spcAft>
            </a:pPr>
            <a:r>
              <a:rPr sz="1450" b="1" i="0">
                <a:solidFill>
                  <a:srgbClr val="1A1A1A"/>
                </a:solidFill>
                <a:latin typeface="Calibri"/>
              </a:rPr>
              <a:t>The product</a:t>
            </a:r>
          </a:p>
          <a:p>
            <a:pPr>
              <a:lnSpc>
                <a:spcPct val="142000"/>
              </a:lnSpc>
              <a:spcBef>
                <a:spcPts val="0"/>
              </a:spcBef>
              <a:spcAft>
                <a:spcPts val="600"/>
              </a:spcAft>
            </a:pPr>
            <a:r>
              <a:rPr sz="1200" b="0" i="0">
                <a:solidFill>
                  <a:srgbClr val="4A4845"/>
                </a:solidFill>
                <a:latin typeface="Calibri"/>
              </a:rPr>
              <a:t>A curated, source-backed record of GCC activity. Every claim carries its source, a confidence label, and a clear line between reported fact and my own interpretation.</a:t>
            </a:r>
          </a:p>
        </p:txBody>
      </p:sp>
      <p:sp>
        <p:nvSpPr>
          <p:cNvPr id="15" name="Rectangle 14"/>
          <p:cNvSpPr/>
          <p:nvPr/>
        </p:nvSpPr>
        <p:spPr>
          <a:xfrm>
            <a:off x="8883167" y="1783080"/>
            <a:ext cx="2595295" cy="32004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83167" y="1783080"/>
            <a:ext cx="2595295" cy="33020"/>
          </a:xfrm>
          <a:prstGeom prst="rect">
            <a:avLst/>
          </a:prstGeom>
          <a:solidFill>
            <a:srgbClr val="7D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6047" y="2029968"/>
            <a:ext cx="2229535" cy="2743200"/>
          </a:xfrm>
          <a:prstGeom prst="rect">
            <a:avLst/>
          </a:prstGeom>
          <a:noFill/>
        </p:spPr>
        <p:txBody>
          <a:bodyPr wrap="square" lIns="0" rIns="0" tIns="0" bIns="0" anchor="t">
            <a:spAutoFit/>
          </a:bodyPr>
          <a:lstStyle/>
          <a:p>
            <a:pPr algn="l">
              <a:lnSpc>
                <a:spcPct val="135000"/>
              </a:lnSpc>
              <a:spcBef>
                <a:spcPts val="0"/>
              </a:spcBef>
              <a:spcAft>
                <a:spcPts val="900"/>
              </a:spcAft>
            </a:pPr>
            <a:r>
              <a:rPr sz="1450" b="1" i="0">
                <a:solidFill>
                  <a:srgbClr val="1A1A1A"/>
                </a:solidFill>
                <a:latin typeface="Calibri"/>
              </a:rPr>
              <a:t>The honest part</a:t>
            </a:r>
          </a:p>
          <a:p>
            <a:pPr>
              <a:lnSpc>
                <a:spcPct val="142000"/>
              </a:lnSpc>
              <a:spcBef>
                <a:spcPts val="0"/>
              </a:spcBef>
              <a:spcAft>
                <a:spcPts val="600"/>
              </a:spcAft>
            </a:pPr>
            <a:r>
              <a:rPr sz="1200" b="0" i="0">
                <a:solidFill>
                  <a:srgbClr val="4A4845"/>
                </a:solidFill>
                <a:latin typeface="Calibri"/>
              </a:rPr>
              <a:t>20 records, not 2,000. No live data, no prediction, no user research yet. The product says so on its own pages rather than hiding it.</a:t>
            </a:r>
          </a:p>
        </p:txBody>
      </p:sp>
      <p:sp>
        <p:nvSpPr>
          <p:cNvPr id="18" name="TextBox 17"/>
          <p:cNvSpPr txBox="1"/>
          <p:nvPr/>
        </p:nvSpPr>
        <p:spPr>
          <a:xfrm>
            <a:off x="713232" y="5230368"/>
            <a:ext cx="10765231" cy="822960"/>
          </a:xfrm>
          <a:prstGeom prst="rect">
            <a:avLst/>
          </a:prstGeom>
          <a:noFill/>
        </p:spPr>
        <p:txBody>
          <a:bodyPr wrap="square" lIns="0" rIns="0" tIns="0" bIns="0" anchor="t">
            <a:spAutoFit/>
          </a:bodyPr>
          <a:lstStyle/>
          <a:p>
            <a:pPr algn="l">
              <a:lnSpc>
                <a:spcPct val="135000"/>
              </a:lnSpc>
              <a:spcAft>
                <a:spcPts val="600"/>
              </a:spcAft>
            </a:pPr>
            <a:r>
              <a:rPr sz="1350" b="1">
                <a:solidFill>
                  <a:srgbClr val="1A1A1A"/>
                </a:solidFill>
                <a:latin typeface="Calibri"/>
              </a:rPr>
              <a:t>One line: </a:t>
            </a:r>
            <a:r>
              <a:rPr sz="1350" b="0">
                <a:solidFill>
                  <a:srgbClr val="4A4845"/>
                </a:solidFill>
                <a:latin typeface="Calibri"/>
              </a:rPr>
              <a:t>GCC Atlas does not try to know more than the public record. It tries to be the only place where the public record is organised, dated, sourced and honest about its own gaps.</a:t>
            </a:r>
          </a:p>
        </p:txBody>
      </p:sp>
      <p:sp>
        <p:nvSpPr>
          <p:cNvPr id="19" name="TextBox 18"/>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Summary</a:t>
            </a:r>
          </a:p>
        </p:txBody>
      </p:sp>
      <p:sp>
        <p:nvSpPr>
          <p:cNvPr id="20" name="TextBox 19"/>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PROBLEM</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Who is in this ecosystem, and who feels the gap</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450" b="0" i="0">
                <a:solidFill>
                  <a:srgbClr val="4A4845"/>
                </a:solidFill>
                <a:latin typeface="Calibri"/>
              </a:rPr>
              <a:t>A company setting up an India GCC touches most of these groups. Each one needs a different slice of the same missing information.</a:t>
            </a:r>
          </a:p>
        </p:txBody>
      </p:sp>
      <p:sp>
        <p:nvSpPr>
          <p:cNvPr id="6" name="Rectangle 5"/>
          <p:cNvSpPr/>
          <p:nvPr/>
        </p:nvSpPr>
        <p:spPr>
          <a:xfrm>
            <a:off x="713232" y="2121408"/>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39572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5117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Global company setting up</a:t>
            </a:r>
          </a:p>
          <a:p>
            <a:pPr>
              <a:lnSpc>
                <a:spcPct val="135000"/>
              </a:lnSpc>
              <a:spcBef>
                <a:spcPts val="0"/>
              </a:spcBef>
              <a:spcAft>
                <a:spcPts val="600"/>
              </a:spcAft>
            </a:pPr>
            <a:r>
              <a:rPr sz="1100" b="0" i="0">
                <a:solidFill>
                  <a:srgbClr val="4A4845"/>
                </a:solidFill>
                <a:latin typeface="Calibri"/>
              </a:rPr>
              <a:t>Which city, what it costs, who to trust</a:t>
            </a:r>
          </a:p>
        </p:txBody>
      </p:sp>
      <p:sp>
        <p:nvSpPr>
          <p:cNvPr id="9" name="Rectangle 8"/>
          <p:cNvSpPr/>
          <p:nvPr/>
        </p:nvSpPr>
        <p:spPr>
          <a:xfrm>
            <a:off x="3431971" y="239572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7419" y="255117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Advisors &amp; consultants</a:t>
            </a:r>
          </a:p>
          <a:p>
            <a:pPr>
              <a:lnSpc>
                <a:spcPct val="135000"/>
              </a:lnSpc>
              <a:spcBef>
                <a:spcPts val="0"/>
              </a:spcBef>
              <a:spcAft>
                <a:spcPts val="600"/>
              </a:spcAft>
            </a:pPr>
            <a:r>
              <a:rPr sz="1100" b="0" i="0">
                <a:solidFill>
                  <a:srgbClr val="4A4845"/>
                </a:solidFill>
                <a:latin typeface="Calibri"/>
              </a:rPr>
              <a:t>Who is in market, and when</a:t>
            </a:r>
          </a:p>
        </p:txBody>
      </p:sp>
      <p:sp>
        <p:nvSpPr>
          <p:cNvPr id="11" name="Rectangle 10"/>
          <p:cNvSpPr/>
          <p:nvPr/>
        </p:nvSpPr>
        <p:spPr>
          <a:xfrm>
            <a:off x="6150711" y="239572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6159" y="255117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Real estate firms</a:t>
            </a:r>
          </a:p>
          <a:p>
            <a:pPr>
              <a:lnSpc>
                <a:spcPct val="135000"/>
              </a:lnSpc>
              <a:spcBef>
                <a:spcPts val="0"/>
              </a:spcBef>
              <a:spcAft>
                <a:spcPts val="600"/>
              </a:spcAft>
            </a:pPr>
            <a:r>
              <a:rPr sz="1100" b="0" i="0">
                <a:solidFill>
                  <a:srgbClr val="4A4845"/>
                </a:solidFill>
                <a:latin typeface="Calibri"/>
              </a:rPr>
              <a:t>Who needs space, and how much</a:t>
            </a:r>
          </a:p>
        </p:txBody>
      </p:sp>
      <p:sp>
        <p:nvSpPr>
          <p:cNvPr id="13" name="Rectangle 12"/>
          <p:cNvSpPr/>
          <p:nvPr/>
        </p:nvSpPr>
        <p:spPr>
          <a:xfrm>
            <a:off x="8869451" y="239572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24899" y="255117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Law firms</a:t>
            </a:r>
          </a:p>
          <a:p>
            <a:pPr>
              <a:lnSpc>
                <a:spcPct val="135000"/>
              </a:lnSpc>
              <a:spcBef>
                <a:spcPts val="0"/>
              </a:spcBef>
              <a:spcAft>
                <a:spcPts val="600"/>
              </a:spcAft>
            </a:pPr>
            <a:r>
              <a:rPr sz="1100" b="0" i="0">
                <a:solidFill>
                  <a:srgbClr val="4A4845"/>
                </a:solidFill>
                <a:latin typeface="Calibri"/>
              </a:rPr>
              <a:t>Entity structure, compliance</a:t>
            </a:r>
          </a:p>
        </p:txBody>
      </p:sp>
      <p:sp>
        <p:nvSpPr>
          <p:cNvPr id="15" name="Rectangle 14"/>
          <p:cNvSpPr/>
          <p:nvPr/>
        </p:nvSpPr>
        <p:spPr>
          <a:xfrm>
            <a:off x="713232" y="358444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3989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State governments</a:t>
            </a:r>
          </a:p>
          <a:p>
            <a:pPr>
              <a:lnSpc>
                <a:spcPct val="135000"/>
              </a:lnSpc>
              <a:spcBef>
                <a:spcPts val="0"/>
              </a:spcBef>
              <a:spcAft>
                <a:spcPts val="600"/>
              </a:spcAft>
            </a:pPr>
            <a:r>
              <a:rPr sz="1100" b="0" i="0">
                <a:solidFill>
                  <a:srgbClr val="4A4845"/>
                </a:solidFill>
                <a:latin typeface="Calibri"/>
              </a:rPr>
              <a:t>Who is shopping, and what they want</a:t>
            </a:r>
          </a:p>
        </p:txBody>
      </p:sp>
      <p:sp>
        <p:nvSpPr>
          <p:cNvPr id="17" name="Rectangle 16"/>
          <p:cNvSpPr/>
          <p:nvPr/>
        </p:nvSpPr>
        <p:spPr>
          <a:xfrm>
            <a:off x="3431971" y="3584448"/>
            <a:ext cx="2609011" cy="1024128"/>
          </a:xfrm>
          <a:prstGeom prst="rect">
            <a:avLst/>
          </a:prstGeom>
          <a:solidFill>
            <a:srgbClr val="EAEEF4"/>
          </a:solidFill>
          <a:ln w="1143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7419" y="373989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F3A5F"/>
                </a:solidFill>
                <a:latin typeface="Calibri"/>
              </a:rPr>
              <a:t>Recruitment &amp; staffing firms</a:t>
            </a:r>
          </a:p>
          <a:p>
            <a:pPr>
              <a:lnSpc>
                <a:spcPct val="135000"/>
              </a:lnSpc>
              <a:spcBef>
                <a:spcPts val="0"/>
              </a:spcBef>
              <a:spcAft>
                <a:spcPts val="600"/>
              </a:spcAft>
            </a:pPr>
            <a:r>
              <a:rPr sz="1100" b="0" i="0">
                <a:solidFill>
                  <a:srgbClr val="4A4845"/>
                </a:solidFill>
                <a:latin typeface="Calibri"/>
              </a:rPr>
              <a:t>Who is hiring, for what, starting when</a:t>
            </a:r>
          </a:p>
        </p:txBody>
      </p:sp>
      <p:sp>
        <p:nvSpPr>
          <p:cNvPr id="19" name="Rectangle 18"/>
          <p:cNvSpPr/>
          <p:nvPr/>
        </p:nvSpPr>
        <p:spPr>
          <a:xfrm>
            <a:off x="6150711" y="3584448"/>
            <a:ext cx="2609011" cy="102412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6159" y="3739896"/>
            <a:ext cx="2298115" cy="749808"/>
          </a:xfrm>
          <a:prstGeom prst="rect">
            <a:avLst/>
          </a:prstGeom>
          <a:noFill/>
        </p:spPr>
        <p:txBody>
          <a:bodyPr wrap="square" lIns="0" rIns="0" tIns="0" bIns="0" anchor="t">
            <a:spAutoFit/>
          </a:bodyPr>
          <a:lstStyle/>
          <a:p>
            <a:pPr algn="l">
              <a:lnSpc>
                <a:spcPct val="135000"/>
              </a:lnSpc>
              <a:spcBef>
                <a:spcPts val="0"/>
              </a:spcBef>
              <a:spcAft>
                <a:spcPts val="500"/>
              </a:spcAft>
            </a:pPr>
            <a:r>
              <a:rPr sz="1250" b="1" i="0">
                <a:solidFill>
                  <a:srgbClr val="1A1A1A"/>
                </a:solidFill>
                <a:latin typeface="Calibri"/>
              </a:rPr>
              <a:t>EOR providers</a:t>
            </a:r>
          </a:p>
          <a:p>
            <a:pPr>
              <a:lnSpc>
                <a:spcPct val="135000"/>
              </a:lnSpc>
              <a:spcBef>
                <a:spcPts val="0"/>
              </a:spcBef>
              <a:spcAft>
                <a:spcPts val="600"/>
              </a:spcAft>
            </a:pPr>
            <a:r>
              <a:rPr sz="1100" b="0" i="0">
                <a:solidFill>
                  <a:srgbClr val="4A4845"/>
                </a:solidFill>
                <a:latin typeface="Calibri"/>
              </a:rPr>
              <a:t>Who needs an employer of record first</a:t>
            </a:r>
          </a:p>
        </p:txBody>
      </p:sp>
      <p:sp>
        <p:nvSpPr>
          <p:cNvPr id="21" name="TextBox 20"/>
          <p:cNvSpPr txBox="1"/>
          <p:nvPr/>
        </p:nvSpPr>
        <p:spPr>
          <a:xfrm>
            <a:off x="713232" y="5440680"/>
            <a:ext cx="10765231" cy="731520"/>
          </a:xfrm>
          <a:prstGeom prst="rect">
            <a:avLst/>
          </a:prstGeom>
          <a:noFill/>
        </p:spPr>
        <p:txBody>
          <a:bodyPr wrap="square" lIns="0" rIns="0" tIns="0" bIns="0" anchor="t">
            <a:spAutoFit/>
          </a:bodyPr>
          <a:lstStyle/>
          <a:p>
            <a:pPr algn="l">
              <a:lnSpc>
                <a:spcPct val="135000"/>
              </a:lnSpc>
              <a:spcAft>
                <a:spcPts val="600"/>
              </a:spcAft>
            </a:pPr>
            <a:r>
              <a:rPr sz="1300" b="1">
                <a:solidFill>
                  <a:srgbClr val="1F3A5F"/>
                </a:solidFill>
                <a:latin typeface="Calibri"/>
              </a:rPr>
              <a:t>I chose the highlighted group. </a:t>
            </a:r>
            <a:r>
              <a:rPr sz="1300" b="0">
                <a:solidFill>
                  <a:srgbClr val="4A4845"/>
                </a:solidFill>
                <a:latin typeface="Calibri"/>
              </a:rPr>
              <a:t>They feel this weekly rather than once a decade, they already pay for market data, and they are reachable. They are also the segment Flexiple operates in — it runs a GCC recruitment and staffing business — so the product has a user inside the building.</a:t>
            </a:r>
          </a:p>
        </p:txBody>
      </p:sp>
      <p:sp>
        <p:nvSpPr>
          <p:cNvPr id="22" name="TextBox 21"/>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Problem · Stakeholders</a:t>
            </a:r>
          </a:p>
        </p:txBody>
      </p:sp>
      <p:sp>
        <p:nvSpPr>
          <p:cNvPr id="23" name="TextBox 22"/>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EVIDENCE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One basic question, three credible answers</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450" b="0" i="0">
                <a:solidFill>
                  <a:srgbClr val="4A4845"/>
                </a:solidFill>
                <a:latin typeface="Calibri"/>
              </a:rPr>
              <a:t>"How many GCCs are there in India?" is the simplest question in this market. Here is what three reasonable sources say.</a:t>
            </a:r>
          </a:p>
        </p:txBody>
      </p:sp>
      <p:sp>
        <p:nvSpPr>
          <p:cNvPr id="6" name="Rectangle 5"/>
          <p:cNvSpPr/>
          <p:nvPr/>
        </p:nvSpPr>
        <p:spPr>
          <a:xfrm>
            <a:off x="713232" y="2121408"/>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395728"/>
            <a:ext cx="3496970" cy="169164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596896"/>
            <a:ext cx="3039770" cy="1371600"/>
          </a:xfrm>
          <a:prstGeom prst="rect">
            <a:avLst/>
          </a:prstGeom>
          <a:noFill/>
        </p:spPr>
        <p:txBody>
          <a:bodyPr wrap="square" lIns="0" rIns="0" tIns="0" bIns="0" anchor="t">
            <a:spAutoFit/>
          </a:bodyPr>
          <a:lstStyle/>
          <a:p>
            <a:pPr algn="l">
              <a:lnSpc>
                <a:spcPct val="100000"/>
              </a:lnSpc>
              <a:spcBef>
                <a:spcPts val="0"/>
              </a:spcBef>
              <a:spcAft>
                <a:spcPts val="400"/>
              </a:spcAft>
            </a:pPr>
            <a:r>
              <a:rPr sz="3800" b="1" i="0">
                <a:solidFill>
                  <a:srgbClr val="1F3A5F"/>
                </a:solidFill>
                <a:latin typeface="Georgia"/>
              </a:rPr>
              <a:t>2,000+</a:t>
            </a:r>
          </a:p>
          <a:p>
            <a:pPr>
              <a:lnSpc>
                <a:spcPct val="135000"/>
              </a:lnSpc>
              <a:spcBef>
                <a:spcPts val="0"/>
              </a:spcBef>
              <a:spcAft>
                <a:spcPts val="500"/>
              </a:spcAft>
            </a:pPr>
            <a:r>
              <a:rPr sz="1250" b="1" i="0">
                <a:solidFill>
                  <a:srgbClr val="1A1A1A"/>
                </a:solidFill>
                <a:latin typeface="Calibri"/>
              </a:rPr>
              <a:t>Flexiple assignment brief</a:t>
            </a:r>
          </a:p>
          <a:p>
            <a:pPr>
              <a:lnSpc>
                <a:spcPct val="135000"/>
              </a:lnSpc>
              <a:spcBef>
                <a:spcPts val="0"/>
              </a:spcBef>
              <a:spcAft>
                <a:spcPts val="600"/>
              </a:spcAft>
            </a:pPr>
            <a:r>
              <a:rPr sz="1050" b="0" i="0">
                <a:solidFill>
                  <a:srgbClr val="7A7772"/>
                </a:solidFill>
                <a:latin typeface="Calibri"/>
              </a:rPr>
              <a:t>The figure given in the brief for this assignment.</a:t>
            </a:r>
          </a:p>
        </p:txBody>
      </p:sp>
      <p:sp>
        <p:nvSpPr>
          <p:cNvPr id="9" name="Rectangle 8"/>
          <p:cNvSpPr/>
          <p:nvPr/>
        </p:nvSpPr>
        <p:spPr>
          <a:xfrm>
            <a:off x="4347362" y="2395728"/>
            <a:ext cx="3496970" cy="169164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5106" y="2596896"/>
            <a:ext cx="3039770" cy="1371600"/>
          </a:xfrm>
          <a:prstGeom prst="rect">
            <a:avLst/>
          </a:prstGeom>
          <a:noFill/>
        </p:spPr>
        <p:txBody>
          <a:bodyPr wrap="square" lIns="0" rIns="0" tIns="0" bIns="0" anchor="t">
            <a:spAutoFit/>
          </a:bodyPr>
          <a:lstStyle/>
          <a:p>
            <a:pPr algn="l">
              <a:lnSpc>
                <a:spcPct val="100000"/>
              </a:lnSpc>
              <a:spcBef>
                <a:spcPts val="0"/>
              </a:spcBef>
              <a:spcAft>
                <a:spcPts val="400"/>
              </a:spcAft>
            </a:pPr>
            <a:r>
              <a:rPr sz="3800" b="1" i="0">
                <a:solidFill>
                  <a:srgbClr val="1F3A5F"/>
                </a:solidFill>
                <a:latin typeface="Georgia"/>
              </a:rPr>
              <a:t>1,800+</a:t>
            </a:r>
          </a:p>
          <a:p>
            <a:pPr>
              <a:lnSpc>
                <a:spcPct val="135000"/>
              </a:lnSpc>
              <a:spcBef>
                <a:spcPts val="0"/>
              </a:spcBef>
              <a:spcAft>
                <a:spcPts val="500"/>
              </a:spcAft>
            </a:pPr>
            <a:r>
              <a:rPr sz="1250" b="1" i="0">
                <a:solidFill>
                  <a:srgbClr val="1A1A1A"/>
                </a:solidFill>
                <a:latin typeface="Calibri"/>
              </a:rPr>
              <a:t>Flexiple's own website</a:t>
            </a:r>
          </a:p>
          <a:p>
            <a:pPr>
              <a:lnSpc>
                <a:spcPct val="135000"/>
              </a:lnSpc>
              <a:spcBef>
                <a:spcPts val="0"/>
              </a:spcBef>
              <a:spcAft>
                <a:spcPts val="600"/>
              </a:spcAft>
            </a:pPr>
            <a:r>
              <a:rPr sz="1050" b="0" i="0">
                <a:solidFill>
                  <a:srgbClr val="7A7772"/>
                </a:solidFill>
                <a:latin typeface="Calibri"/>
              </a:rPr>
              <a:t>Stated on Flexiple's city-wise GCC directory page, alongside ~3,000 delivery units.</a:t>
            </a:r>
          </a:p>
        </p:txBody>
      </p:sp>
      <p:sp>
        <p:nvSpPr>
          <p:cNvPr id="11" name="Rectangle 10"/>
          <p:cNvSpPr/>
          <p:nvPr/>
        </p:nvSpPr>
        <p:spPr>
          <a:xfrm>
            <a:off x="7981492" y="2395728"/>
            <a:ext cx="3496970" cy="169164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9236" y="2596896"/>
            <a:ext cx="3039770" cy="1371600"/>
          </a:xfrm>
          <a:prstGeom prst="rect">
            <a:avLst/>
          </a:prstGeom>
          <a:noFill/>
        </p:spPr>
        <p:txBody>
          <a:bodyPr wrap="square" lIns="0" rIns="0" tIns="0" bIns="0" anchor="t">
            <a:spAutoFit/>
          </a:bodyPr>
          <a:lstStyle/>
          <a:p>
            <a:pPr algn="l">
              <a:lnSpc>
                <a:spcPct val="100000"/>
              </a:lnSpc>
              <a:spcBef>
                <a:spcPts val="0"/>
              </a:spcBef>
              <a:spcAft>
                <a:spcPts val="400"/>
              </a:spcAft>
            </a:pPr>
            <a:r>
              <a:rPr sz="3800" b="1" i="0">
                <a:solidFill>
                  <a:srgbClr val="1F3A5F"/>
                </a:solidFill>
                <a:latin typeface="Georgia"/>
              </a:rPr>
              <a:t>~1,700</a:t>
            </a:r>
          </a:p>
          <a:p>
            <a:pPr>
              <a:lnSpc>
                <a:spcPct val="135000"/>
              </a:lnSpc>
              <a:spcBef>
                <a:spcPts val="0"/>
              </a:spcBef>
              <a:spcAft>
                <a:spcPts val="500"/>
              </a:spcAft>
            </a:pPr>
            <a:r>
              <a:rPr sz="1250" b="1" i="0">
                <a:solidFill>
                  <a:srgbClr val="1A1A1A"/>
                </a:solidFill>
                <a:latin typeface="Calibri"/>
              </a:rPr>
              <a:t>Vestian Research</a:t>
            </a:r>
          </a:p>
          <a:p>
            <a:pPr>
              <a:lnSpc>
                <a:spcPct val="135000"/>
              </a:lnSpc>
              <a:spcBef>
                <a:spcPts val="0"/>
              </a:spcBef>
              <a:spcAft>
                <a:spcPts val="600"/>
              </a:spcAft>
            </a:pPr>
            <a:r>
              <a:rPr sz="1050" b="0" i="0">
                <a:solidFill>
                  <a:srgbClr val="7A7772"/>
                </a:solidFill>
                <a:latin typeface="Calibri"/>
              </a:rPr>
              <a:t>Reported via IANS, July 2025.</a:t>
            </a:r>
          </a:p>
        </p:txBody>
      </p:sp>
      <p:sp>
        <p:nvSpPr>
          <p:cNvPr id="13" name="TextBox 12"/>
          <p:cNvSpPr txBox="1"/>
          <p:nvPr/>
        </p:nvSpPr>
        <p:spPr>
          <a:xfrm>
            <a:off x="713232" y="4343400"/>
            <a:ext cx="10765231" cy="1371600"/>
          </a:xfrm>
          <a:prstGeom prst="rect">
            <a:avLst/>
          </a:prstGeom>
          <a:noFill/>
        </p:spPr>
        <p:txBody>
          <a:bodyPr wrap="square" lIns="0" rIns="0" tIns="0" bIns="0" anchor="t">
            <a:spAutoFit/>
          </a:bodyPr>
          <a:lstStyle/>
          <a:p>
            <a:pPr algn="l">
              <a:lnSpc>
                <a:spcPct val="145000"/>
              </a:lnSpc>
              <a:spcBef>
                <a:spcPts val="0"/>
              </a:spcBef>
              <a:spcAft>
                <a:spcPts val="1000"/>
              </a:spcAft>
            </a:pPr>
            <a:r>
              <a:rPr sz="1400" b="0" i="0">
                <a:solidFill>
                  <a:srgbClr val="1A1A1A"/>
                </a:solidFill>
                <a:latin typeface="Calibri"/>
              </a:rPr>
              <a:t>None of these sources is wrong. They use different definitions, different dates and different counting methods — and none of them shows its working. That is the problem in one slide: not that information is missing, but that it cannot be checked.</a:t>
            </a:r>
          </a:p>
          <a:p>
            <a:pPr>
              <a:lnSpc>
                <a:spcPct val="135000"/>
              </a:lnSpc>
              <a:spcAft>
                <a:spcPts val="600"/>
              </a:spcAft>
            </a:pPr>
            <a:r>
              <a:rPr sz="1250" b="1">
                <a:solidFill>
                  <a:srgbClr val="1F3A5F"/>
                </a:solidFill>
                <a:latin typeface="Calibri"/>
              </a:rPr>
              <a:t>Why this matters commercially:  </a:t>
            </a:r>
            <a:r>
              <a:rPr sz="1250" b="0">
                <a:solidFill>
                  <a:srgbClr val="4A4845"/>
                </a:solidFill>
                <a:latin typeface="Calibri"/>
              </a:rPr>
              <a:t>a staffing firm sizing this market picks a number and builds a plan on it. A 300-centre spread between credible sources is the difference between a sound forecast and a guess.</a:t>
            </a:r>
          </a:p>
        </p:txBody>
      </p:sp>
      <p:sp>
        <p:nvSpPr>
          <p:cNvPr id="14" name="TextBox 13"/>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Evidence · The counting problem</a:t>
            </a:r>
          </a:p>
        </p:txBody>
      </p:sp>
      <p:sp>
        <p:nvSpPr>
          <p:cNvPr id="15" name="TextBox 14"/>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EVIDENCE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What I hit while building the dataset</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450" b="0" i="0">
                <a:solidFill>
                  <a:srgbClr val="4A4845"/>
                </a:solidFill>
                <a:latin typeface="Calibri"/>
              </a:rPr>
              <a:t>I set out to verify 20 GCC announcements. The obstacles I ran into are themselves evidence of the problem — these are my own findings, not quoted research.</a:t>
            </a:r>
          </a:p>
        </p:txBody>
      </p:sp>
      <p:sp>
        <p:nvSpPr>
          <p:cNvPr id="6" name="Rectangle 5"/>
          <p:cNvSpPr/>
          <p:nvPr/>
        </p:nvSpPr>
        <p:spPr>
          <a:xfrm>
            <a:off x="713232" y="2194560"/>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523744"/>
            <a:ext cx="274320" cy="274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8" name="TextBox 7"/>
          <p:cNvSpPr txBox="1"/>
          <p:nvPr/>
        </p:nvSpPr>
        <p:spPr>
          <a:xfrm>
            <a:off x="1133856" y="2505456"/>
            <a:ext cx="10344607" cy="731520"/>
          </a:xfrm>
          <a:prstGeom prst="rect">
            <a:avLst/>
          </a:prstGeom>
          <a:noFill/>
        </p:spPr>
        <p:txBody>
          <a:bodyPr wrap="square" lIns="0" rIns="0" tIns="0" bIns="0" anchor="t">
            <a:spAutoFit/>
          </a:bodyPr>
          <a:lstStyle/>
          <a:p>
            <a:pPr algn="l">
              <a:lnSpc>
                <a:spcPct val="135000"/>
              </a:lnSpc>
              <a:spcBef>
                <a:spcPts val="0"/>
              </a:spcBef>
              <a:spcAft>
                <a:spcPts val="300"/>
              </a:spcAft>
            </a:pPr>
            <a:r>
              <a:rPr sz="1300" b="1" i="0">
                <a:solidFill>
                  <a:srgbClr val="1A1A1A"/>
                </a:solidFill>
                <a:latin typeface="Calibri"/>
              </a:rPr>
              <a:t>Six different names for the same thing</a:t>
            </a:r>
          </a:p>
          <a:p>
            <a:pPr>
              <a:lnSpc>
                <a:spcPct val="135000"/>
              </a:lnSpc>
              <a:spcBef>
                <a:spcPts val="0"/>
              </a:spcBef>
              <a:spcAft>
                <a:spcPts val="600"/>
              </a:spcAft>
            </a:pPr>
            <a:r>
              <a:rPr sz="1150" b="0" i="0">
                <a:solidFill>
                  <a:srgbClr val="4A4845"/>
                </a:solidFill>
                <a:latin typeface="Calibri"/>
              </a:rPr>
              <a:t>GCC, Global Capability Centre, Global Value Centre, Global Innovation Centre, capability center, Global Business Solutions — all in my 20 records. Any keyword search misses centres purely because of vocabulary.</a:t>
            </a:r>
          </a:p>
        </p:txBody>
      </p:sp>
      <p:sp>
        <p:nvSpPr>
          <p:cNvPr id="9" name="Rectangle 8"/>
          <p:cNvSpPr/>
          <p:nvPr/>
        </p:nvSpPr>
        <p:spPr>
          <a:xfrm>
            <a:off x="713232" y="3291840"/>
            <a:ext cx="274320" cy="274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0" name="TextBox 9"/>
          <p:cNvSpPr txBox="1"/>
          <p:nvPr/>
        </p:nvSpPr>
        <p:spPr>
          <a:xfrm>
            <a:off x="1133856" y="3273552"/>
            <a:ext cx="10344607" cy="731520"/>
          </a:xfrm>
          <a:prstGeom prst="rect">
            <a:avLst/>
          </a:prstGeom>
          <a:noFill/>
        </p:spPr>
        <p:txBody>
          <a:bodyPr wrap="square" lIns="0" rIns="0" tIns="0" bIns="0" anchor="t">
            <a:spAutoFit/>
          </a:bodyPr>
          <a:lstStyle/>
          <a:p>
            <a:pPr algn="l">
              <a:lnSpc>
                <a:spcPct val="135000"/>
              </a:lnSpc>
              <a:spcBef>
                <a:spcPts val="0"/>
              </a:spcBef>
              <a:spcAft>
                <a:spcPts val="300"/>
              </a:spcAft>
            </a:pPr>
            <a:r>
              <a:rPr sz="1300" b="1" i="0">
                <a:solidFill>
                  <a:srgbClr val="1A1A1A"/>
                </a:solidFill>
                <a:latin typeface="Calibri"/>
              </a:rPr>
              <a:t>The same event, different dates</a:t>
            </a:r>
          </a:p>
          <a:p>
            <a:pPr>
              <a:lnSpc>
                <a:spcPct val="135000"/>
              </a:lnSpc>
              <a:spcBef>
                <a:spcPts val="0"/>
              </a:spcBef>
              <a:spcAft>
                <a:spcPts val="600"/>
              </a:spcAft>
            </a:pPr>
            <a:r>
              <a:rPr sz="1150" b="0" i="0">
                <a:solidFill>
                  <a:srgbClr val="4A4845"/>
                </a:solidFill>
                <a:latin typeface="Calibri"/>
              </a:rPr>
              <a:t>ICE's Pune lease: one source dates it 29 Dec 2025 (registration), another Feb 2026 (reporting). Both are probably right about different events.</a:t>
            </a:r>
          </a:p>
        </p:txBody>
      </p:sp>
      <p:sp>
        <p:nvSpPr>
          <p:cNvPr id="11" name="Rectangle 10"/>
          <p:cNvSpPr/>
          <p:nvPr/>
        </p:nvSpPr>
        <p:spPr>
          <a:xfrm>
            <a:off x="713232" y="4059936"/>
            <a:ext cx="274320" cy="274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12" name="TextBox 11"/>
          <p:cNvSpPr txBox="1"/>
          <p:nvPr/>
        </p:nvSpPr>
        <p:spPr>
          <a:xfrm>
            <a:off x="1133856" y="4041648"/>
            <a:ext cx="10344607" cy="731520"/>
          </a:xfrm>
          <a:prstGeom prst="rect">
            <a:avLst/>
          </a:prstGeom>
          <a:noFill/>
        </p:spPr>
        <p:txBody>
          <a:bodyPr wrap="square" lIns="0" rIns="0" tIns="0" bIns="0" anchor="t">
            <a:spAutoFit/>
          </a:bodyPr>
          <a:lstStyle/>
          <a:p>
            <a:pPr algn="l">
              <a:lnSpc>
                <a:spcPct val="135000"/>
              </a:lnSpc>
              <a:spcBef>
                <a:spcPts val="0"/>
              </a:spcBef>
              <a:spcAft>
                <a:spcPts val="300"/>
              </a:spcAft>
            </a:pPr>
            <a:r>
              <a:rPr sz="1300" b="1" i="0">
                <a:solidFill>
                  <a:srgbClr val="1A1A1A"/>
                </a:solidFill>
                <a:latin typeface="Calibri"/>
              </a:rPr>
              <a:t>The same event, different headcounts</a:t>
            </a:r>
          </a:p>
          <a:p>
            <a:pPr>
              <a:lnSpc>
                <a:spcPct val="135000"/>
              </a:lnSpc>
              <a:spcBef>
                <a:spcPts val="0"/>
              </a:spcBef>
              <a:spcAft>
                <a:spcPts val="600"/>
              </a:spcAft>
            </a:pPr>
            <a:r>
              <a:rPr sz="1150" b="0" i="0">
                <a:solidFill>
                  <a:srgbClr val="4A4845"/>
                </a:solidFill>
                <a:latin typeface="Calibri"/>
              </a:rPr>
              <a:t>Eli Lilly's Hyderabad centre: 1,000+ at announcement, 1,500 at inauguration. HCA Healthcare: ~1,100 in one report, ~1,200 in another.</a:t>
            </a:r>
          </a:p>
        </p:txBody>
      </p:sp>
      <p:sp>
        <p:nvSpPr>
          <p:cNvPr id="13" name="Rectangle 12"/>
          <p:cNvSpPr/>
          <p:nvPr/>
        </p:nvSpPr>
        <p:spPr>
          <a:xfrm>
            <a:off x="713232" y="4828032"/>
            <a:ext cx="274320" cy="274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14" name="TextBox 13"/>
          <p:cNvSpPr txBox="1"/>
          <p:nvPr/>
        </p:nvSpPr>
        <p:spPr>
          <a:xfrm>
            <a:off x="1133856" y="4809744"/>
            <a:ext cx="10344607" cy="731520"/>
          </a:xfrm>
          <a:prstGeom prst="rect">
            <a:avLst/>
          </a:prstGeom>
          <a:noFill/>
        </p:spPr>
        <p:txBody>
          <a:bodyPr wrap="square" lIns="0" rIns="0" tIns="0" bIns="0" anchor="t">
            <a:spAutoFit/>
          </a:bodyPr>
          <a:lstStyle/>
          <a:p>
            <a:pPr algn="l">
              <a:lnSpc>
                <a:spcPct val="135000"/>
              </a:lnSpc>
              <a:spcBef>
                <a:spcPts val="0"/>
              </a:spcBef>
              <a:spcAft>
                <a:spcPts val="300"/>
              </a:spcAft>
            </a:pPr>
            <a:r>
              <a:rPr sz="1300" b="1" i="0">
                <a:solidFill>
                  <a:srgbClr val="1A1A1A"/>
                </a:solidFill>
                <a:latin typeface="Calibri"/>
              </a:rPr>
              <a:t>Headline numbers that mean something else</a:t>
            </a:r>
          </a:p>
          <a:p>
            <a:pPr>
              <a:lnSpc>
                <a:spcPct val="135000"/>
              </a:lnSpc>
              <a:spcBef>
                <a:spcPts val="0"/>
              </a:spcBef>
              <a:spcAft>
                <a:spcPts val="600"/>
              </a:spcAft>
            </a:pPr>
            <a:r>
              <a:rPr sz="1150" b="0" i="0">
                <a:solidFill>
                  <a:srgbClr val="4A4845"/>
                </a:solidFill>
                <a:latin typeface="Calibri"/>
              </a:rPr>
              <a:t>JPMorgan Chase's Mumbai campus is widely reported as "30,000 employees". That is building capacity for a 2029 campus, and the reporting says "consolidating" existing India operations. It is not 30,000 new jobs.</a:t>
            </a:r>
          </a:p>
        </p:txBody>
      </p:sp>
      <p:sp>
        <p:nvSpPr>
          <p:cNvPr id="15" name="Rectangle 14"/>
          <p:cNvSpPr/>
          <p:nvPr/>
        </p:nvSpPr>
        <p:spPr>
          <a:xfrm>
            <a:off x="713232" y="5596128"/>
            <a:ext cx="274320" cy="274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16" name="TextBox 15"/>
          <p:cNvSpPr txBox="1"/>
          <p:nvPr/>
        </p:nvSpPr>
        <p:spPr>
          <a:xfrm>
            <a:off x="1133856" y="5577840"/>
            <a:ext cx="10344607" cy="731520"/>
          </a:xfrm>
          <a:prstGeom prst="rect">
            <a:avLst/>
          </a:prstGeom>
          <a:noFill/>
        </p:spPr>
        <p:txBody>
          <a:bodyPr wrap="square" lIns="0" rIns="0" tIns="0" bIns="0" anchor="t">
            <a:spAutoFit/>
          </a:bodyPr>
          <a:lstStyle/>
          <a:p>
            <a:pPr algn="l">
              <a:lnSpc>
                <a:spcPct val="135000"/>
              </a:lnSpc>
              <a:spcBef>
                <a:spcPts val="0"/>
              </a:spcBef>
              <a:spcAft>
                <a:spcPts val="300"/>
              </a:spcAft>
            </a:pPr>
            <a:r>
              <a:rPr sz="1300" b="1" i="0">
                <a:solidFill>
                  <a:srgbClr val="1A1A1A"/>
                </a:solidFill>
                <a:latin typeface="Calibri"/>
              </a:rPr>
              <a:t>Most coverage has no primary source</a:t>
            </a:r>
          </a:p>
          <a:p>
            <a:pPr>
              <a:lnSpc>
                <a:spcPct val="135000"/>
              </a:lnSpc>
              <a:spcBef>
                <a:spcPts val="0"/>
              </a:spcBef>
              <a:spcAft>
                <a:spcPts val="600"/>
              </a:spcAft>
            </a:pPr>
            <a:r>
              <a:rPr sz="1150" b="0" i="0">
                <a:solidFill>
                  <a:srgbClr val="4A4845"/>
                </a:solidFill>
                <a:latin typeface="Calibri"/>
              </a:rPr>
              <a:t>Only 8 of my 20 records cite a company press release. Much of what circulates is LinkedIn posts and "Top 10 GCCs" roundups with nothing underneath them.</a:t>
            </a:r>
          </a:p>
        </p:txBody>
      </p:sp>
      <p:sp>
        <p:nvSpPr>
          <p:cNvPr id="17" name="TextBox 16"/>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Evidence · Research findings</a:t>
            </a:r>
          </a:p>
        </p:txBody>
      </p:sp>
      <p:sp>
        <p:nvSpPr>
          <p:cNvPr id="18" name="TextBox 17"/>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CURRENT ALTERNATIVES</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How people solve this today — and where it breaks</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737360"/>
            <a:ext cx="338328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ALTERNATIVE</a:t>
            </a:r>
          </a:p>
        </p:txBody>
      </p:sp>
      <p:sp>
        <p:nvSpPr>
          <p:cNvPr id="7" name="TextBox 6"/>
          <p:cNvSpPr txBox="1"/>
          <p:nvPr/>
        </p:nvSpPr>
        <p:spPr>
          <a:xfrm>
            <a:off x="4206240" y="1737360"/>
            <a:ext cx="265176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WHAT WORKS</a:t>
            </a:r>
          </a:p>
        </p:txBody>
      </p:sp>
      <p:sp>
        <p:nvSpPr>
          <p:cNvPr id="8" name="TextBox 7"/>
          <p:cNvSpPr txBox="1"/>
          <p:nvPr/>
        </p:nvSpPr>
        <p:spPr>
          <a:xfrm>
            <a:off x="6967728" y="1737360"/>
            <a:ext cx="365760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WHERE IT BREAKS</a:t>
            </a:r>
          </a:p>
        </p:txBody>
      </p:sp>
      <p:sp>
        <p:nvSpPr>
          <p:cNvPr id="9" name="TextBox 8"/>
          <p:cNvSpPr txBox="1"/>
          <p:nvPr/>
        </p:nvSpPr>
        <p:spPr>
          <a:xfrm>
            <a:off x="10735056" y="1737360"/>
            <a:ext cx="749808"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
            </a:r>
          </a:p>
        </p:txBody>
      </p:sp>
      <p:sp>
        <p:nvSpPr>
          <p:cNvPr id="10" name="Rectangle 9"/>
          <p:cNvSpPr/>
          <p:nvPr/>
        </p:nvSpPr>
        <p:spPr>
          <a:xfrm>
            <a:off x="713232" y="2011680"/>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139696"/>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Industry reports (Nasscom, Vestian, consultancies)</a:t>
            </a:r>
          </a:p>
        </p:txBody>
      </p:sp>
      <p:sp>
        <p:nvSpPr>
          <p:cNvPr id="12" name="TextBox 11"/>
          <p:cNvSpPr txBox="1"/>
          <p:nvPr/>
        </p:nvSpPr>
        <p:spPr>
          <a:xfrm>
            <a:off x="4206240" y="2139696"/>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Credible, broad market picture</a:t>
            </a:r>
          </a:p>
        </p:txBody>
      </p:sp>
      <p:sp>
        <p:nvSpPr>
          <p:cNvPr id="13" name="TextBox 12"/>
          <p:cNvSpPr txBox="1"/>
          <p:nvPr/>
        </p:nvSpPr>
        <p:spPr>
          <a:xfrm>
            <a:off x="6967728" y="2139696"/>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Annual, aggregate, not per-company, method rarely shown</a:t>
            </a:r>
          </a:p>
        </p:txBody>
      </p:sp>
      <p:sp>
        <p:nvSpPr>
          <p:cNvPr id="14" name="Rectangle 13"/>
          <p:cNvSpPr/>
          <p:nvPr/>
        </p:nvSpPr>
        <p:spPr>
          <a:xfrm>
            <a:off x="10735056" y="2121408"/>
            <a:ext cx="749808"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Checked</a:t>
            </a:r>
          </a:p>
        </p:txBody>
      </p:sp>
      <p:sp>
        <p:nvSpPr>
          <p:cNvPr id="15" name="TextBox 14"/>
          <p:cNvSpPr txBox="1"/>
          <p:nvPr/>
        </p:nvSpPr>
        <p:spPr>
          <a:xfrm>
            <a:off x="713232" y="2715768"/>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Directory and listicle pages, including Flexiple's own</a:t>
            </a:r>
          </a:p>
        </p:txBody>
      </p:sp>
      <p:sp>
        <p:nvSpPr>
          <p:cNvPr id="16" name="TextBox 15"/>
          <p:cNvSpPr txBox="1"/>
          <p:nvPr/>
        </p:nvSpPr>
        <p:spPr>
          <a:xfrm>
            <a:off x="4206240" y="2715768"/>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Fast, free, good coverage of names</a:t>
            </a:r>
          </a:p>
        </p:txBody>
      </p:sp>
      <p:sp>
        <p:nvSpPr>
          <p:cNvPr id="17" name="TextBox 16"/>
          <p:cNvSpPr txBox="1"/>
          <p:nvPr/>
        </p:nvSpPr>
        <p:spPr>
          <a:xfrm>
            <a:off x="6967728" y="2715768"/>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A list of names, no dates, no sources per entry, no confidence</a:t>
            </a:r>
          </a:p>
        </p:txBody>
      </p:sp>
      <p:sp>
        <p:nvSpPr>
          <p:cNvPr id="18" name="Rectangle 17"/>
          <p:cNvSpPr/>
          <p:nvPr/>
        </p:nvSpPr>
        <p:spPr>
          <a:xfrm>
            <a:off x="10735056" y="2697480"/>
            <a:ext cx="749808"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Checked</a:t>
            </a:r>
          </a:p>
        </p:txBody>
      </p:sp>
      <p:sp>
        <p:nvSpPr>
          <p:cNvPr id="19" name="TextBox 18"/>
          <p:cNvSpPr txBox="1"/>
          <p:nvPr/>
        </p:nvSpPr>
        <p:spPr>
          <a:xfrm>
            <a:off x="713232" y="3291840"/>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Google News / general search</a:t>
            </a:r>
          </a:p>
        </p:txBody>
      </p:sp>
      <p:sp>
        <p:nvSpPr>
          <p:cNvPr id="20" name="TextBox 19"/>
          <p:cNvSpPr txBox="1"/>
          <p:nvPr/>
        </p:nvSpPr>
        <p:spPr>
          <a:xfrm>
            <a:off x="4206240" y="3291840"/>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Current and free</a:t>
            </a:r>
          </a:p>
        </p:txBody>
      </p:sp>
      <p:sp>
        <p:nvSpPr>
          <p:cNvPr id="21" name="TextBox 20"/>
          <p:cNvSpPr txBox="1"/>
          <p:nvPr/>
        </p:nvSpPr>
        <p:spPr>
          <a:xfrm>
            <a:off x="6967728" y="3291840"/>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Terminology problem means you miss centres; no way to tell a press release from a blog</a:t>
            </a:r>
          </a:p>
        </p:txBody>
      </p:sp>
      <p:sp>
        <p:nvSpPr>
          <p:cNvPr id="22" name="Rectangle 21"/>
          <p:cNvSpPr/>
          <p:nvPr/>
        </p:nvSpPr>
        <p:spPr>
          <a:xfrm>
            <a:off x="10735056" y="3273552"/>
            <a:ext cx="749808"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Checked</a:t>
            </a:r>
          </a:p>
        </p:txBody>
      </p:sp>
      <p:sp>
        <p:nvSpPr>
          <p:cNvPr id="23" name="TextBox 22"/>
          <p:cNvSpPr txBox="1"/>
          <p:nvPr/>
        </p:nvSpPr>
        <p:spPr>
          <a:xfrm>
            <a:off x="713232" y="3867912"/>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LinkedIn posts and roundups</a:t>
            </a:r>
          </a:p>
        </p:txBody>
      </p:sp>
      <p:sp>
        <p:nvSpPr>
          <p:cNvPr id="24" name="TextBox 23"/>
          <p:cNvSpPr txBox="1"/>
          <p:nvPr/>
        </p:nvSpPr>
        <p:spPr>
          <a:xfrm>
            <a:off x="4206240" y="3867912"/>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Early and specific</a:t>
            </a:r>
          </a:p>
        </p:txBody>
      </p:sp>
      <p:sp>
        <p:nvSpPr>
          <p:cNvPr id="25" name="TextBox 24"/>
          <p:cNvSpPr txBox="1"/>
          <p:nvPr/>
        </p:nvSpPr>
        <p:spPr>
          <a:xfrm>
            <a:off x="6967728" y="3867912"/>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Usually unsourced; figures are repeated without checking</a:t>
            </a:r>
          </a:p>
        </p:txBody>
      </p:sp>
      <p:sp>
        <p:nvSpPr>
          <p:cNvPr id="26" name="Rectangle 25"/>
          <p:cNvSpPr/>
          <p:nvPr/>
        </p:nvSpPr>
        <p:spPr>
          <a:xfrm>
            <a:off x="10735056" y="3849624"/>
            <a:ext cx="749808"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Checked</a:t>
            </a:r>
          </a:p>
        </p:txBody>
      </p:sp>
      <p:sp>
        <p:nvSpPr>
          <p:cNvPr id="27" name="TextBox 26"/>
          <p:cNvSpPr txBox="1"/>
          <p:nvPr/>
        </p:nvSpPr>
        <p:spPr>
          <a:xfrm>
            <a:off x="713232" y="4443984"/>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Personal networks and referrals</a:t>
            </a:r>
          </a:p>
        </p:txBody>
      </p:sp>
      <p:sp>
        <p:nvSpPr>
          <p:cNvPr id="28" name="TextBox 27"/>
          <p:cNvSpPr txBox="1"/>
          <p:nvPr/>
        </p:nvSpPr>
        <p:spPr>
          <a:xfrm>
            <a:off x="4206240" y="4443984"/>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Genuinely the best current tool</a:t>
            </a:r>
          </a:p>
        </p:txBody>
      </p:sp>
      <p:sp>
        <p:nvSpPr>
          <p:cNvPr id="29" name="TextBox 28"/>
          <p:cNvSpPr txBox="1"/>
          <p:nvPr/>
        </p:nvSpPr>
        <p:spPr>
          <a:xfrm>
            <a:off x="6967728" y="4443984"/>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Does not scale, cannot be audited, excludes new entrants</a:t>
            </a:r>
          </a:p>
        </p:txBody>
      </p:sp>
      <p:sp>
        <p:nvSpPr>
          <p:cNvPr id="30" name="Rectangle 29"/>
          <p:cNvSpPr/>
          <p:nvPr/>
        </p:nvSpPr>
        <p:spPr>
          <a:xfrm>
            <a:off x="10735056" y="4425696"/>
            <a:ext cx="749808" cy="237744"/>
          </a:xfrm>
          <a:prstGeom prst="rect">
            <a:avLst/>
          </a:prstGeom>
          <a:solidFill>
            <a:srgbClr val="F7F0E2"/>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5618"/>
                </a:solidFill>
                <a:latin typeface="Calibri"/>
              </a:rPr>
              <a:t>Assumed</a:t>
            </a:r>
          </a:p>
        </p:txBody>
      </p:sp>
      <p:sp>
        <p:nvSpPr>
          <p:cNvPr id="31" name="TextBox 30"/>
          <p:cNvSpPr txBox="1"/>
          <p:nvPr/>
        </p:nvSpPr>
        <p:spPr>
          <a:xfrm>
            <a:off x="713232" y="5020056"/>
            <a:ext cx="3383280" cy="548640"/>
          </a:xfrm>
          <a:prstGeom prst="rect">
            <a:avLst/>
          </a:prstGeom>
          <a:noFill/>
        </p:spPr>
        <p:txBody>
          <a:bodyPr wrap="square" lIns="0" rIns="0" tIns="0" bIns="0" anchor="t">
            <a:spAutoFit/>
          </a:bodyPr>
          <a:lstStyle/>
          <a:p>
            <a:pPr algn="l">
              <a:lnSpc>
                <a:spcPct val="130000"/>
              </a:lnSpc>
              <a:spcBef>
                <a:spcPts val="0"/>
              </a:spcBef>
              <a:spcAft>
                <a:spcPts val="0"/>
              </a:spcAft>
            </a:pPr>
            <a:r>
              <a:rPr sz="1150" b="1" i="0">
                <a:solidFill>
                  <a:srgbClr val="1A1A1A"/>
                </a:solidFill>
                <a:latin typeface="Calibri"/>
              </a:rPr>
              <a:t>Sales intelligence tools (Apollo, ZoomInfo)</a:t>
            </a:r>
          </a:p>
        </p:txBody>
      </p:sp>
      <p:sp>
        <p:nvSpPr>
          <p:cNvPr id="32" name="TextBox 31"/>
          <p:cNvSpPr txBox="1"/>
          <p:nvPr/>
        </p:nvSpPr>
        <p:spPr>
          <a:xfrm>
            <a:off x="4206240" y="5020056"/>
            <a:ext cx="265176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Strong contact data</a:t>
            </a:r>
          </a:p>
        </p:txBody>
      </p:sp>
      <p:sp>
        <p:nvSpPr>
          <p:cNvPr id="33" name="TextBox 32"/>
          <p:cNvSpPr txBox="1"/>
          <p:nvPr/>
        </p:nvSpPr>
        <p:spPr>
          <a:xfrm>
            <a:off x="6967728" y="5020056"/>
            <a:ext cx="3657600" cy="54864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4A4845"/>
                </a:solidFill>
                <a:latin typeface="Calibri"/>
              </a:rPr>
              <a:t>No concept of "GCC"; cannot answer who is building a centre</a:t>
            </a:r>
          </a:p>
        </p:txBody>
      </p:sp>
      <p:sp>
        <p:nvSpPr>
          <p:cNvPr id="34" name="Rectangle 33"/>
          <p:cNvSpPr/>
          <p:nvPr/>
        </p:nvSpPr>
        <p:spPr>
          <a:xfrm>
            <a:off x="10735056" y="5001768"/>
            <a:ext cx="749808" cy="237744"/>
          </a:xfrm>
          <a:prstGeom prst="rect">
            <a:avLst/>
          </a:prstGeom>
          <a:solidFill>
            <a:srgbClr val="F7F0E2"/>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5618"/>
                </a:solidFill>
                <a:latin typeface="Calibri"/>
              </a:rPr>
              <a:t>Assumed</a:t>
            </a:r>
          </a:p>
        </p:txBody>
      </p:sp>
      <p:sp>
        <p:nvSpPr>
          <p:cNvPr id="35" name="TextBox 34"/>
          <p:cNvSpPr txBox="1"/>
          <p:nvPr/>
        </p:nvSpPr>
        <p:spPr>
          <a:xfrm>
            <a:off x="713232" y="5687568"/>
            <a:ext cx="10765231" cy="548640"/>
          </a:xfrm>
          <a:prstGeom prst="rect">
            <a:avLst/>
          </a:prstGeom>
          <a:noFill/>
        </p:spPr>
        <p:txBody>
          <a:bodyPr wrap="square" lIns="0" rIns="0" tIns="0" bIns="0" anchor="t">
            <a:spAutoFit/>
          </a:bodyPr>
          <a:lstStyle/>
          <a:p>
            <a:pPr algn="l">
              <a:lnSpc>
                <a:spcPct val="135000"/>
              </a:lnSpc>
              <a:spcAft>
                <a:spcPts val="600"/>
              </a:spcAft>
            </a:pPr>
            <a:r>
              <a:rPr sz="1150" b="1">
                <a:solidFill>
                  <a:srgbClr val="1A1A1A"/>
                </a:solidFill>
                <a:latin typeface="Calibri"/>
              </a:rPr>
              <a:t>Reading the labels: </a:t>
            </a:r>
            <a:r>
              <a:rPr sz="1150" b="0">
                <a:solidFill>
                  <a:srgbClr val="4A4845"/>
                </a:solidFill>
                <a:latin typeface="Calibri"/>
              </a:rPr>
              <a:t>"Checked" means I used the alternative myself while researching this dataset. "Assumed" means it is a reasonable belief I have not tested — I have not interviewed anyone who does this job.</a:t>
            </a:r>
          </a:p>
        </p:txBody>
      </p:sp>
      <p:sp>
        <p:nvSpPr>
          <p:cNvPr id="36" name="TextBox 35"/>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Current alternatives</a:t>
            </a:r>
          </a:p>
        </p:txBody>
      </p:sp>
      <p:sp>
        <p:nvSpPr>
          <p:cNvPr id="37" name="TextBox 36"/>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OPPORTUNITIES</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Four things I could have built. I built the third.</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2588437" cy="356616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93392"/>
            <a:ext cx="2222677" cy="310896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1A1A1A"/>
                </a:solidFill>
                <a:latin typeface="Calibri"/>
              </a:rPr>
              <a:t>Provider track records</a:t>
            </a:r>
          </a:p>
          <a:p>
            <a:pPr>
              <a:lnSpc>
                <a:spcPct val="130000"/>
              </a:lnSpc>
              <a:spcBef>
                <a:spcPts val="0"/>
              </a:spcBef>
              <a:spcAft>
                <a:spcPts val="1000"/>
              </a:spcAft>
            </a:pPr>
            <a:r>
              <a:rPr sz="1100" b="0" i="1">
                <a:solidFill>
                  <a:srgbClr val="7A7772"/>
                </a:solidFill>
                <a:latin typeface="Calibri"/>
              </a:rPr>
              <a:t>"Which advisor or EOR actually delivers?"</a:t>
            </a:r>
          </a:p>
          <a:p>
            <a:pPr>
              <a:lnSpc>
                <a:spcPct val="140000"/>
              </a:lnSpc>
              <a:spcBef>
                <a:spcPts val="0"/>
              </a:spcBef>
              <a:spcAft>
                <a:spcPts val="600"/>
              </a:spcAft>
            </a:pPr>
            <a:r>
              <a:rPr sz="1100" b="0" i="0">
                <a:solidFill>
                  <a:srgbClr val="4A4845"/>
                </a:solidFill>
                <a:latin typeface="Calibri"/>
              </a:rPr>
              <a:t>The most-felt pain, but the data is private outcomes. Building it honestly is impossible; building it dishonestly means inventing performance data.</a:t>
            </a:r>
          </a:p>
        </p:txBody>
      </p:sp>
      <p:sp>
        <p:nvSpPr>
          <p:cNvPr id="8" name="Rectangle 7"/>
          <p:cNvSpPr/>
          <p:nvPr/>
        </p:nvSpPr>
        <p:spPr>
          <a:xfrm>
            <a:off x="896112" y="4956048"/>
            <a:ext cx="841248" cy="237744"/>
          </a:xfrm>
          <a:prstGeom prst="rect">
            <a:avLst/>
          </a:prstGeom>
          <a:solidFill>
            <a:srgbClr val="F8ECEB"/>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D3B36"/>
                </a:solidFill>
                <a:latin typeface="Calibri"/>
              </a:rPr>
              <a:t>Rejected</a:t>
            </a:r>
          </a:p>
        </p:txBody>
      </p:sp>
      <p:sp>
        <p:nvSpPr>
          <p:cNvPr id="9" name="Rectangle 8"/>
          <p:cNvSpPr/>
          <p:nvPr/>
        </p:nvSpPr>
        <p:spPr>
          <a:xfrm>
            <a:off x="3438829" y="1783080"/>
            <a:ext cx="2588437" cy="356616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709" y="1993392"/>
            <a:ext cx="2222677" cy="310896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1A1A1A"/>
                </a:solidFill>
                <a:latin typeface="Calibri"/>
              </a:rPr>
              <a:t>Setup decision copilot</a:t>
            </a:r>
          </a:p>
          <a:p>
            <a:pPr>
              <a:lnSpc>
                <a:spcPct val="130000"/>
              </a:lnSpc>
              <a:spcBef>
                <a:spcPts val="0"/>
              </a:spcBef>
              <a:spcAft>
                <a:spcPts val="1000"/>
              </a:spcAft>
            </a:pPr>
            <a:r>
              <a:rPr sz="1100" b="0" i="1">
                <a:solidFill>
                  <a:srgbClr val="7A7772"/>
                </a:solidFill>
                <a:latin typeface="Calibri"/>
              </a:rPr>
              <a:t>"Which city, what entity, what cost?"</a:t>
            </a:r>
          </a:p>
          <a:p>
            <a:pPr>
              <a:lnSpc>
                <a:spcPct val="140000"/>
              </a:lnSpc>
              <a:spcBef>
                <a:spcPts val="0"/>
              </a:spcBef>
              <a:spcAft>
                <a:spcPts val="600"/>
              </a:spcAft>
            </a:pPr>
            <a:r>
              <a:rPr sz="1100" b="0" i="0">
                <a:solidFill>
                  <a:srgbClr val="4A4845"/>
                </a:solidFill>
                <a:latin typeface="Calibri"/>
              </a:rPr>
              <a:t>Very few buyers, decade-long cycles, and it depends on verified cost and incentive figures I could not source reliably in the time available.</a:t>
            </a:r>
          </a:p>
        </p:txBody>
      </p:sp>
      <p:sp>
        <p:nvSpPr>
          <p:cNvPr id="11" name="Rectangle 10"/>
          <p:cNvSpPr/>
          <p:nvPr/>
        </p:nvSpPr>
        <p:spPr>
          <a:xfrm>
            <a:off x="3621709" y="4956048"/>
            <a:ext cx="841248" cy="237744"/>
          </a:xfrm>
          <a:prstGeom prst="rect">
            <a:avLst/>
          </a:prstGeom>
          <a:solidFill>
            <a:srgbClr val="F8ECEB"/>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D3B36"/>
                </a:solidFill>
                <a:latin typeface="Calibri"/>
              </a:rPr>
              <a:t>Rejected</a:t>
            </a:r>
          </a:p>
        </p:txBody>
      </p:sp>
      <p:sp>
        <p:nvSpPr>
          <p:cNvPr id="12" name="Rectangle 11"/>
          <p:cNvSpPr/>
          <p:nvPr/>
        </p:nvSpPr>
        <p:spPr>
          <a:xfrm>
            <a:off x="6164427" y="1783080"/>
            <a:ext cx="2588437" cy="3566160"/>
          </a:xfrm>
          <a:prstGeom prst="rect">
            <a:avLst/>
          </a:prstGeom>
          <a:solidFill>
            <a:srgbClr val="E8F1ED"/>
          </a:solidFill>
          <a:ln w="11430">
            <a:solidFill>
              <a:srgbClr val="1D5C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7307" y="1993392"/>
            <a:ext cx="2222677" cy="310896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1A1A1A"/>
                </a:solidFill>
                <a:latin typeface="Calibri"/>
              </a:rPr>
              <a:t>Source-backed activity record</a:t>
            </a:r>
          </a:p>
          <a:p>
            <a:pPr>
              <a:lnSpc>
                <a:spcPct val="130000"/>
              </a:lnSpc>
              <a:spcBef>
                <a:spcPts val="0"/>
              </a:spcBef>
              <a:spcAft>
                <a:spcPts val="1000"/>
              </a:spcAft>
            </a:pPr>
            <a:r>
              <a:rPr sz="1100" b="0" i="1">
                <a:solidFill>
                  <a:srgbClr val="7A7772"/>
                </a:solidFill>
                <a:latin typeface="Calibri"/>
              </a:rPr>
              <a:t>"Who is building, and can I check it?"</a:t>
            </a:r>
          </a:p>
          <a:p>
            <a:pPr>
              <a:lnSpc>
                <a:spcPct val="140000"/>
              </a:lnSpc>
              <a:spcBef>
                <a:spcPts val="0"/>
              </a:spcBef>
              <a:spcAft>
                <a:spcPts val="600"/>
              </a:spcAft>
            </a:pPr>
            <a:r>
              <a:rPr sz="1100" b="0" i="0">
                <a:solidFill>
                  <a:srgbClr val="4A4845"/>
                </a:solidFill>
                <a:latin typeface="Calibri"/>
              </a:rPr>
              <a:t>Entirely buildable from public evidence. Serves a user who feels the need weekly. Honest about what it does not know.</a:t>
            </a:r>
          </a:p>
        </p:txBody>
      </p:sp>
      <p:sp>
        <p:nvSpPr>
          <p:cNvPr id="14" name="Rectangle 13"/>
          <p:cNvSpPr/>
          <p:nvPr/>
        </p:nvSpPr>
        <p:spPr>
          <a:xfrm>
            <a:off x="6347307" y="4956048"/>
            <a:ext cx="713232"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Built</a:t>
            </a:r>
          </a:p>
        </p:txBody>
      </p:sp>
      <p:sp>
        <p:nvSpPr>
          <p:cNvPr id="15" name="Rectangle 14"/>
          <p:cNvSpPr/>
          <p:nvPr/>
        </p:nvSpPr>
        <p:spPr>
          <a:xfrm>
            <a:off x="8890025" y="1783080"/>
            <a:ext cx="2588437" cy="356616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2905" y="1993392"/>
            <a:ext cx="2222677" cy="3108960"/>
          </a:xfrm>
          <a:prstGeom prst="rect">
            <a:avLst/>
          </a:prstGeom>
          <a:noFill/>
        </p:spPr>
        <p:txBody>
          <a:bodyPr wrap="square" lIns="0" rIns="0" tIns="0" bIns="0" anchor="t">
            <a:spAutoFit/>
          </a:bodyPr>
          <a:lstStyle/>
          <a:p>
            <a:pPr algn="l">
              <a:lnSpc>
                <a:spcPct val="125000"/>
              </a:lnSpc>
              <a:spcBef>
                <a:spcPts val="0"/>
              </a:spcBef>
              <a:spcAft>
                <a:spcPts val="600"/>
              </a:spcAft>
            </a:pPr>
            <a:r>
              <a:rPr sz="1350" b="1" i="0">
                <a:solidFill>
                  <a:srgbClr val="1A1A1A"/>
                </a:solidFill>
                <a:latin typeface="Calibri"/>
              </a:rPr>
              <a:t>Expansion prediction</a:t>
            </a:r>
          </a:p>
          <a:p>
            <a:pPr>
              <a:lnSpc>
                <a:spcPct val="130000"/>
              </a:lnSpc>
              <a:spcBef>
                <a:spcPts val="0"/>
              </a:spcBef>
              <a:spcAft>
                <a:spcPts val="1000"/>
              </a:spcAft>
            </a:pPr>
            <a:r>
              <a:rPr sz="1100" b="0" i="1">
                <a:solidFill>
                  <a:srgbClr val="7A7772"/>
                </a:solidFill>
                <a:latin typeface="Calibri"/>
              </a:rPr>
              <a:t>"Who will set up a GCC next?"</a:t>
            </a:r>
          </a:p>
          <a:p>
            <a:pPr>
              <a:lnSpc>
                <a:spcPct val="140000"/>
              </a:lnSpc>
              <a:spcBef>
                <a:spcPts val="0"/>
              </a:spcBef>
              <a:spcAft>
                <a:spcPts val="600"/>
              </a:spcAft>
            </a:pPr>
            <a:r>
              <a:rPr sz="1100" b="0" i="0">
                <a:solidFill>
                  <a:srgbClr val="4A4845"/>
                </a:solidFill>
                <a:latin typeface="Calibri"/>
              </a:rPr>
              <a:t>I could not find evidence that public data gives reliable early warning. Claiming prediction without testing it would be the dishonest option.</a:t>
            </a:r>
          </a:p>
        </p:txBody>
      </p:sp>
      <p:sp>
        <p:nvSpPr>
          <p:cNvPr id="17" name="Rectangle 16"/>
          <p:cNvSpPr/>
          <p:nvPr/>
        </p:nvSpPr>
        <p:spPr>
          <a:xfrm>
            <a:off x="9072905" y="4956048"/>
            <a:ext cx="841248" cy="237744"/>
          </a:xfrm>
          <a:prstGeom prst="rect">
            <a:avLst/>
          </a:prstGeom>
          <a:solidFill>
            <a:srgbClr val="F8ECEB"/>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D3B36"/>
                </a:solidFill>
                <a:latin typeface="Calibri"/>
              </a:rPr>
              <a:t>Rejected</a:t>
            </a:r>
          </a:p>
        </p:txBody>
      </p:sp>
      <p:sp>
        <p:nvSpPr>
          <p:cNvPr id="18" name="TextBox 17"/>
          <p:cNvSpPr txBox="1"/>
          <p:nvPr/>
        </p:nvSpPr>
        <p:spPr>
          <a:xfrm>
            <a:off x="713232" y="5559552"/>
            <a:ext cx="10765231" cy="731520"/>
          </a:xfrm>
          <a:prstGeom prst="rect">
            <a:avLst/>
          </a:prstGeom>
          <a:noFill/>
        </p:spPr>
        <p:txBody>
          <a:bodyPr wrap="square" lIns="0" rIns="0" tIns="0" bIns="0" anchor="t">
            <a:spAutoFit/>
          </a:bodyPr>
          <a:lstStyle/>
          <a:p>
            <a:pPr algn="l">
              <a:lnSpc>
                <a:spcPct val="135000"/>
              </a:lnSpc>
              <a:spcAft>
                <a:spcPts val="600"/>
              </a:spcAft>
            </a:pPr>
            <a:r>
              <a:rPr sz="1300" b="1">
                <a:solidFill>
                  <a:srgbClr val="1A1A1A"/>
                </a:solidFill>
                <a:latin typeface="Calibri"/>
              </a:rPr>
              <a:t>The deciding question was the same each time: </a:t>
            </a:r>
            <a:r>
              <a:rPr sz="1300" b="0">
                <a:solidFill>
                  <a:srgbClr val="4A4845"/>
                </a:solidFill>
                <a:latin typeface="Calibri"/>
              </a:rPr>
              <a:t>can this be built honestly from evidence I can actually obtain? Only one of the four could. Three of these would have made a more impressive slide and a less defensible product.</a:t>
            </a:r>
          </a:p>
        </p:txBody>
      </p:sp>
      <p:sp>
        <p:nvSpPr>
          <p:cNvPr id="19" name="TextBox 18"/>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Opportunities · Prioritisation</a:t>
            </a:r>
          </a:p>
        </p:txBody>
      </p:sp>
      <p:sp>
        <p:nvSpPr>
          <p:cNvPr id="20" name="TextBox 19"/>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TARGET USER</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The first user, and the job to be done</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783080"/>
            <a:ext cx="5394960" cy="3200400"/>
          </a:xfrm>
          <a:prstGeom prst="rect">
            <a:avLst/>
          </a:prstGeom>
          <a:solidFill>
            <a:srgbClr val="EAEEF4"/>
          </a:solidFill>
          <a:ln w="1143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29968"/>
            <a:ext cx="4846320" cy="2743200"/>
          </a:xfrm>
          <a:prstGeom prst="rect">
            <a:avLst/>
          </a:prstGeom>
          <a:noFill/>
        </p:spPr>
        <p:txBody>
          <a:bodyPr wrap="square" lIns="0" rIns="0" tIns="0" bIns="0" anchor="t">
            <a:spAutoFit/>
          </a:bodyPr>
          <a:lstStyle/>
          <a:p>
            <a:pPr algn="l">
              <a:lnSpc>
                <a:spcPct val="120000"/>
              </a:lnSpc>
              <a:spcBef>
                <a:spcPts val="0"/>
              </a:spcBef>
              <a:spcAft>
                <a:spcPts val="1100"/>
              </a:spcAft>
            </a:pPr>
            <a:r>
              <a:rPr sz="1700" b="1" i="0">
                <a:solidFill>
                  <a:srgbClr val="1F3A5F"/>
                </a:solidFill>
                <a:latin typeface="Georgia"/>
              </a:rPr>
              <a:t>Business development lead at a recruitment or staffing firm</a:t>
            </a:r>
          </a:p>
          <a:p>
            <a:pPr>
              <a:lnSpc>
                <a:spcPct val="142000"/>
              </a:lnSpc>
              <a:spcBef>
                <a:spcPts val="0"/>
              </a:spcBef>
              <a:spcAft>
                <a:spcPts val="1200"/>
              </a:spcAft>
            </a:pPr>
            <a:r>
              <a:rPr sz="1250" b="0" i="0">
                <a:solidFill>
                  <a:srgbClr val="4A4845"/>
                </a:solidFill>
                <a:latin typeface="Calibri"/>
              </a:rPr>
              <a:t>Their job is to find accounts worth approaching. Today that means reading news, watching LinkedIn, and relying on who they happen to know.</a:t>
            </a:r>
          </a:p>
          <a:p>
            <a:pPr>
              <a:lnSpc>
                <a:spcPct val="135000"/>
              </a:lnSpc>
              <a:spcAft>
                <a:spcPts val="600"/>
              </a:spcAft>
            </a:pPr>
            <a:r>
              <a:rPr sz="1250" b="1">
                <a:solidFill>
                  <a:srgbClr val="1F3A5F"/>
                </a:solidFill>
                <a:latin typeface="Calibri"/>
              </a:rPr>
              <a:t>The job to be done:  </a:t>
            </a:r>
            <a:r>
              <a:rPr sz="1250" b="0">
                <a:solidFill>
                  <a:srgbClr val="1A1A1A"/>
                </a:solidFill>
                <a:latin typeface="Calibri"/>
              </a:rPr>
              <a:t>"Show me which companies are building or growing a capability centre in India, tell me when, and let me check it before I put my name to it."</a:t>
            </a:r>
          </a:p>
        </p:txBody>
      </p:sp>
      <p:sp>
        <p:nvSpPr>
          <p:cNvPr id="8" name="Rectangle 7"/>
          <p:cNvSpPr/>
          <p:nvPr/>
        </p:nvSpPr>
        <p:spPr>
          <a:xfrm>
            <a:off x="6382512" y="1783080"/>
            <a:ext cx="5095951" cy="576072"/>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7104" y="1874520"/>
            <a:ext cx="4730191" cy="45720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Calibri"/>
              </a:rPr>
              <a:t>Felt weekly, not once a decade  </a:t>
            </a:r>
            <a:r>
              <a:rPr sz="1150" b="0">
                <a:solidFill>
                  <a:srgbClr val="4A4845"/>
                </a:solidFill>
                <a:latin typeface="Calibri"/>
              </a:rPr>
              <a:t>Frequency is what makes a tool stick.</a:t>
            </a:r>
          </a:p>
        </p:txBody>
      </p:sp>
      <p:sp>
        <p:nvSpPr>
          <p:cNvPr id="10" name="Rectangle 9"/>
          <p:cNvSpPr/>
          <p:nvPr/>
        </p:nvSpPr>
        <p:spPr>
          <a:xfrm>
            <a:off x="6382512" y="2441448"/>
            <a:ext cx="5095951" cy="576072"/>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47104" y="2532888"/>
            <a:ext cx="4730191" cy="45720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Calibri"/>
              </a:rPr>
              <a:t>Already pays for market data  </a:t>
            </a:r>
            <a:r>
              <a:rPr sz="1150" b="0">
                <a:solidFill>
                  <a:srgbClr val="4A4845"/>
                </a:solidFill>
                <a:latin typeface="Calibri"/>
              </a:rPr>
              <a:t>No new budget line to create — a better one to argue for.</a:t>
            </a:r>
          </a:p>
        </p:txBody>
      </p:sp>
      <p:sp>
        <p:nvSpPr>
          <p:cNvPr id="12" name="Rectangle 11"/>
          <p:cNvSpPr/>
          <p:nvPr/>
        </p:nvSpPr>
        <p:spPr>
          <a:xfrm>
            <a:off x="6382512" y="3099816"/>
            <a:ext cx="5095951" cy="576072"/>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47104" y="3191256"/>
            <a:ext cx="4730191" cy="45720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Calibri"/>
              </a:rPr>
              <a:t>Reachable  </a:t>
            </a:r>
            <a:r>
              <a:rPr sz="1150" b="0">
                <a:solidFill>
                  <a:srgbClr val="4A4845"/>
                </a:solidFill>
                <a:latin typeface="Calibri"/>
              </a:rPr>
              <a:t>Thousands of firms, no procurement committee.</a:t>
            </a:r>
          </a:p>
        </p:txBody>
      </p:sp>
      <p:sp>
        <p:nvSpPr>
          <p:cNvPr id="14" name="Rectangle 13"/>
          <p:cNvSpPr/>
          <p:nvPr/>
        </p:nvSpPr>
        <p:spPr>
          <a:xfrm>
            <a:off x="6382512" y="3758184"/>
            <a:ext cx="5095951" cy="576072"/>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7104" y="3849624"/>
            <a:ext cx="4730191" cy="45720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Calibri"/>
              </a:rPr>
              <a:t>Serveable with honest data  </a:t>
            </a:r>
            <a:r>
              <a:rPr sz="1150" b="0">
                <a:solidFill>
                  <a:srgbClr val="4A4845"/>
                </a:solidFill>
                <a:latin typeface="Calibri"/>
              </a:rPr>
              <a:t>Public evidence genuinely answers their question.</a:t>
            </a:r>
          </a:p>
        </p:txBody>
      </p:sp>
      <p:sp>
        <p:nvSpPr>
          <p:cNvPr id="16" name="Rectangle 15"/>
          <p:cNvSpPr/>
          <p:nvPr/>
        </p:nvSpPr>
        <p:spPr>
          <a:xfrm>
            <a:off x="6382512" y="4416552"/>
            <a:ext cx="5095951" cy="576072"/>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4507992"/>
            <a:ext cx="4730191" cy="457200"/>
          </a:xfrm>
          <a:prstGeom prst="rect">
            <a:avLst/>
          </a:prstGeom>
          <a:noFill/>
        </p:spPr>
        <p:txBody>
          <a:bodyPr wrap="square" lIns="0" rIns="0" tIns="0" bIns="0" anchor="t">
            <a:spAutoFit/>
          </a:bodyPr>
          <a:lstStyle/>
          <a:p>
            <a:pPr algn="l">
              <a:lnSpc>
                <a:spcPct val="125000"/>
              </a:lnSpc>
              <a:spcAft>
                <a:spcPts val="600"/>
              </a:spcAft>
            </a:pPr>
            <a:r>
              <a:rPr sz="1150" b="1">
                <a:solidFill>
                  <a:srgbClr val="1A1A1A"/>
                </a:solidFill>
                <a:latin typeface="Calibri"/>
              </a:rPr>
              <a:t>Flexiple is this user  </a:t>
            </a:r>
            <a:r>
              <a:rPr sz="1150" b="0">
                <a:solidFill>
                  <a:srgbClr val="4A4845"/>
                </a:solidFill>
                <a:latin typeface="Calibri"/>
              </a:rPr>
              <a:t>It runs a GCC recruitment and staffing business — it could use this itself.</a:t>
            </a:r>
          </a:p>
        </p:txBody>
      </p:sp>
      <p:sp>
        <p:nvSpPr>
          <p:cNvPr id="18" name="TextBox 1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Target user</a:t>
            </a:r>
          </a:p>
        </p:txBody>
      </p:sp>
      <p:sp>
        <p:nvSpPr>
          <p:cNvPr id="19" name="TextBox 1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SOLUTION</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GCC Atlas</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550" b="0" i="0">
                <a:solidFill>
                  <a:srgbClr val="4A4845"/>
                </a:solidFill>
                <a:latin typeface="Calibri"/>
              </a:rPr>
              <a:t>A curated record of publicly reported GCC activity in India where every claim can be traced, questioned and checked.</a:t>
            </a:r>
          </a:p>
        </p:txBody>
      </p:sp>
      <p:sp>
        <p:nvSpPr>
          <p:cNvPr id="6" name="Rectangle 5"/>
          <p:cNvSpPr/>
          <p:nvPr/>
        </p:nvSpPr>
        <p:spPr>
          <a:xfrm>
            <a:off x="713232" y="2194560"/>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487168"/>
            <a:ext cx="2588437" cy="22860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2487168"/>
            <a:ext cx="2588437"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24912"/>
            <a:ext cx="2222677" cy="1920240"/>
          </a:xfrm>
          <a:prstGeom prst="rect">
            <a:avLst/>
          </a:prstGeom>
          <a:noFill/>
        </p:spPr>
        <p:txBody>
          <a:bodyPr wrap="square" lIns="0" rIns="0" tIns="0" bIns="0" anchor="t">
            <a:spAutoFit/>
          </a:bodyPr>
          <a:lstStyle/>
          <a:p>
            <a:pPr algn="l">
              <a:lnSpc>
                <a:spcPct val="125000"/>
              </a:lnSpc>
              <a:spcBef>
                <a:spcPts val="0"/>
              </a:spcBef>
              <a:spcAft>
                <a:spcPts val="800"/>
              </a:spcAft>
            </a:pPr>
            <a:r>
              <a:rPr sz="1300" b="1" i="0">
                <a:solidFill>
                  <a:srgbClr val="1A1A1A"/>
                </a:solidFill>
                <a:latin typeface="Calibri"/>
              </a:rPr>
              <a:t>Every claim carries its source</a:t>
            </a:r>
          </a:p>
          <a:p>
            <a:pPr>
              <a:lnSpc>
                <a:spcPct val="142000"/>
              </a:lnSpc>
              <a:spcBef>
                <a:spcPts val="0"/>
              </a:spcBef>
              <a:spcAft>
                <a:spcPts val="600"/>
              </a:spcAft>
            </a:pPr>
            <a:r>
              <a:rPr sz="1100" b="0" i="0">
                <a:solidFill>
                  <a:srgbClr val="4A4845"/>
                </a:solidFill>
                <a:latin typeface="Calibri"/>
              </a:rPr>
              <a:t>47 source links across 20 records, each tagged as a company release, trade press or news, with its date. All clickable.</a:t>
            </a:r>
          </a:p>
        </p:txBody>
      </p:sp>
      <p:sp>
        <p:nvSpPr>
          <p:cNvPr id="10" name="Rectangle 9"/>
          <p:cNvSpPr/>
          <p:nvPr/>
        </p:nvSpPr>
        <p:spPr>
          <a:xfrm>
            <a:off x="3438829" y="2487168"/>
            <a:ext cx="2588437" cy="22860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38829" y="2487168"/>
            <a:ext cx="2588437"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21709" y="2724912"/>
            <a:ext cx="2222677" cy="1920240"/>
          </a:xfrm>
          <a:prstGeom prst="rect">
            <a:avLst/>
          </a:prstGeom>
          <a:noFill/>
        </p:spPr>
        <p:txBody>
          <a:bodyPr wrap="square" lIns="0" rIns="0" tIns="0" bIns="0" anchor="t">
            <a:spAutoFit/>
          </a:bodyPr>
          <a:lstStyle/>
          <a:p>
            <a:pPr algn="l">
              <a:lnSpc>
                <a:spcPct val="125000"/>
              </a:lnSpc>
              <a:spcBef>
                <a:spcPts val="0"/>
              </a:spcBef>
              <a:spcAft>
                <a:spcPts val="800"/>
              </a:spcAft>
            </a:pPr>
            <a:r>
              <a:rPr sz="1300" b="1" i="0">
                <a:solidFill>
                  <a:srgbClr val="1A1A1A"/>
                </a:solidFill>
                <a:latin typeface="Calibri"/>
              </a:rPr>
              <a:t>Facts and interpretation never blur</a:t>
            </a:r>
          </a:p>
          <a:p>
            <a:pPr>
              <a:lnSpc>
                <a:spcPct val="142000"/>
              </a:lnSpc>
              <a:spcBef>
                <a:spcPts val="0"/>
              </a:spcBef>
              <a:spcAft>
                <a:spcPts val="600"/>
              </a:spcAft>
            </a:pPr>
            <a:r>
              <a:rPr sz="1100" b="0" i="0">
                <a:solidFill>
                  <a:srgbClr val="4A4845"/>
                </a:solidFill>
                <a:latin typeface="Calibri"/>
              </a:rPr>
              <a:t>Each record shows what the sources state, then — separately and visibly labelled — what I read into it. The two are styled differently so you cannot mistake one for the other.</a:t>
            </a:r>
          </a:p>
        </p:txBody>
      </p:sp>
      <p:sp>
        <p:nvSpPr>
          <p:cNvPr id="13" name="Rectangle 12"/>
          <p:cNvSpPr/>
          <p:nvPr/>
        </p:nvSpPr>
        <p:spPr>
          <a:xfrm>
            <a:off x="6164427" y="2487168"/>
            <a:ext cx="2588437" cy="22860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4427" y="2487168"/>
            <a:ext cx="2588437"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724912"/>
            <a:ext cx="2222677" cy="1920240"/>
          </a:xfrm>
          <a:prstGeom prst="rect">
            <a:avLst/>
          </a:prstGeom>
          <a:noFill/>
        </p:spPr>
        <p:txBody>
          <a:bodyPr wrap="square" lIns="0" rIns="0" tIns="0" bIns="0" anchor="t">
            <a:spAutoFit/>
          </a:bodyPr>
          <a:lstStyle/>
          <a:p>
            <a:pPr algn="l">
              <a:lnSpc>
                <a:spcPct val="125000"/>
              </a:lnSpc>
              <a:spcBef>
                <a:spcPts val="0"/>
              </a:spcBef>
              <a:spcAft>
                <a:spcPts val="800"/>
              </a:spcAft>
            </a:pPr>
            <a:r>
              <a:rPr sz="1300" b="1" i="0">
                <a:solidFill>
                  <a:srgbClr val="1A1A1A"/>
                </a:solidFill>
                <a:latin typeface="Calibri"/>
              </a:rPr>
              <a:t>Confidence is about evidence, not importance</a:t>
            </a:r>
          </a:p>
          <a:p>
            <a:pPr>
              <a:lnSpc>
                <a:spcPct val="142000"/>
              </a:lnSpc>
              <a:spcBef>
                <a:spcPts val="0"/>
              </a:spcBef>
              <a:spcAft>
                <a:spcPts val="600"/>
              </a:spcAft>
            </a:pPr>
            <a:r>
              <a:rPr sz="1100" b="0" i="0">
                <a:solidFill>
                  <a:srgbClr val="4A4845"/>
                </a:solidFill>
                <a:latin typeface="Calibri"/>
              </a:rPr>
              <a:t>A small expansion with a company press release outranks a huge announcement carried only by a blog. The reason for each rating is written out.</a:t>
            </a:r>
          </a:p>
        </p:txBody>
      </p:sp>
      <p:sp>
        <p:nvSpPr>
          <p:cNvPr id="16" name="Rectangle 15"/>
          <p:cNvSpPr/>
          <p:nvPr/>
        </p:nvSpPr>
        <p:spPr>
          <a:xfrm>
            <a:off x="8890025" y="2487168"/>
            <a:ext cx="2588437" cy="2286000"/>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90025" y="2487168"/>
            <a:ext cx="2588437" cy="330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2905" y="2724912"/>
            <a:ext cx="2222677" cy="1920240"/>
          </a:xfrm>
          <a:prstGeom prst="rect">
            <a:avLst/>
          </a:prstGeom>
          <a:noFill/>
        </p:spPr>
        <p:txBody>
          <a:bodyPr wrap="square" lIns="0" rIns="0" tIns="0" bIns="0" anchor="t">
            <a:spAutoFit/>
          </a:bodyPr>
          <a:lstStyle/>
          <a:p>
            <a:pPr algn="l">
              <a:lnSpc>
                <a:spcPct val="125000"/>
              </a:lnSpc>
              <a:spcBef>
                <a:spcPts val="0"/>
              </a:spcBef>
              <a:spcAft>
                <a:spcPts val="800"/>
              </a:spcAft>
            </a:pPr>
            <a:r>
              <a:rPr sz="1300" b="1" i="0">
                <a:solidFill>
                  <a:srgbClr val="1A1A1A"/>
                </a:solidFill>
                <a:latin typeface="Calibri"/>
              </a:rPr>
              <a:t>It refuses rather than guesses</a:t>
            </a:r>
          </a:p>
          <a:p>
            <a:pPr>
              <a:lnSpc>
                <a:spcPct val="142000"/>
              </a:lnSpc>
              <a:spcBef>
                <a:spcPts val="0"/>
              </a:spcBef>
              <a:spcAft>
                <a:spcPts val="600"/>
              </a:spcAft>
            </a:pPr>
            <a:r>
              <a:rPr sz="1100" b="0" i="0">
                <a:solidFill>
                  <a:srgbClr val="4A4845"/>
                </a:solidFill>
                <a:latin typeface="Calibri"/>
              </a:rPr>
              <a:t>Ask it about salaries, costs, incentives or the future and it names what it does not hold instead of producing something plausible.</a:t>
            </a:r>
          </a:p>
        </p:txBody>
      </p:sp>
      <p:sp>
        <p:nvSpPr>
          <p:cNvPr id="19" name="TextBox 18"/>
          <p:cNvSpPr txBox="1"/>
          <p:nvPr/>
        </p:nvSpPr>
        <p:spPr>
          <a:xfrm>
            <a:off x="713232" y="5047488"/>
            <a:ext cx="10765231" cy="1097280"/>
          </a:xfrm>
          <a:prstGeom prst="rect">
            <a:avLst/>
          </a:prstGeom>
          <a:noFill/>
        </p:spPr>
        <p:txBody>
          <a:bodyPr wrap="square" lIns="0" rIns="0" tIns="0" bIns="0" anchor="t">
            <a:spAutoFit/>
          </a:bodyPr>
          <a:lstStyle/>
          <a:p>
            <a:pPr algn="l">
              <a:lnSpc>
                <a:spcPct val="135000"/>
              </a:lnSpc>
              <a:spcBef>
                <a:spcPts val="0"/>
              </a:spcBef>
              <a:spcAft>
                <a:spcPts val="600"/>
              </a:spcAft>
            </a:pPr>
            <a:r>
              <a:rPr sz="1100" b="1" i="0">
                <a:solidFill>
                  <a:srgbClr val="7D3B36"/>
                </a:solidFill>
                <a:latin typeface="Calibri"/>
              </a:rPr>
              <a:t>What it is not</a:t>
            </a:r>
          </a:p>
          <a:p>
            <a:pPr>
              <a:lnSpc>
                <a:spcPct val="150000"/>
              </a:lnSpc>
              <a:spcBef>
                <a:spcPts val="0"/>
              </a:spcBef>
              <a:spcAft>
                <a:spcPts val="600"/>
              </a:spcAft>
            </a:pPr>
            <a:r>
              <a:rPr sz="1200" b="0" i="0">
                <a:solidFill>
                  <a:srgbClr val="4A4845"/>
                </a:solidFill>
                <a:latin typeface="Calibri"/>
              </a:rPr>
              <a:t>Not live data — the dataset is a fixed snapshot in a file.   ·   Not a complete register — 20 records, not 2,000.   ·   Not a prediction tool.   ·   Not validated by any real user yet.</a:t>
            </a:r>
          </a:p>
        </p:txBody>
      </p:sp>
      <p:sp>
        <p:nvSpPr>
          <p:cNvPr id="20" name="TextBox 19"/>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Solution</a:t>
            </a:r>
          </a:p>
        </p:txBody>
      </p:sp>
      <p:sp>
        <p:nvSpPr>
          <p:cNvPr id="21" name="TextBox 20"/>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PROTOTYPE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2700" b="0" i="0">
                <a:solidFill>
                  <a:srgbClr val="1A1A1A"/>
                </a:solidFill>
                <a:latin typeface="Georgia"/>
              </a:rPr>
              <a:t>The overview</a:t>
            </a:r>
          </a:p>
        </p:txBody>
      </p:sp>
      <p:sp>
        <p:nvSpPr>
          <p:cNvPr id="5" name="TextBox 4"/>
          <p:cNvSpPr txBox="1"/>
          <p:nvPr/>
        </p:nvSpPr>
        <p:spPr>
          <a:xfrm>
            <a:off x="713232" y="1371600"/>
            <a:ext cx="10607040" cy="566928"/>
          </a:xfrm>
          <a:prstGeom prst="rect">
            <a:avLst/>
          </a:prstGeom>
          <a:noFill/>
        </p:spPr>
        <p:txBody>
          <a:bodyPr wrap="square" lIns="0" rIns="0" tIns="0" bIns="0" anchor="t">
            <a:spAutoFit/>
          </a:bodyPr>
          <a:lstStyle/>
          <a:p>
            <a:pPr algn="l">
              <a:lnSpc>
                <a:spcPct val="140000"/>
              </a:lnSpc>
              <a:spcBef>
                <a:spcPts val="0"/>
              </a:spcBef>
              <a:spcAft>
                <a:spcPts val="0"/>
              </a:spcAft>
            </a:pPr>
            <a:r>
              <a:rPr sz="1250" b="0" i="0">
                <a:solidFill>
                  <a:srgbClr val="4A4845"/>
                </a:solidFill>
                <a:latin typeface="Calibri"/>
              </a:rPr>
              <a:t>Every number here is counted from the 20 records at page load — nothing is hardcoded, so the figures cannot drift from the data. The banner states the dataset's size and limits before showing a single chart.</a:t>
            </a:r>
          </a:p>
        </p:txBody>
      </p:sp>
      <p:pic>
        <p:nvPicPr>
          <p:cNvPr id="6" name="Picture 5" descr="crop-01-overview.png"/>
          <p:cNvPicPr>
            <a:picLocks noChangeAspect="1"/>
          </p:cNvPicPr>
          <p:nvPr/>
        </p:nvPicPr>
        <p:blipFill>
          <a:blip r:embed="rId2"/>
          <a:stretch>
            <a:fillRect/>
          </a:stretch>
        </p:blipFill>
        <p:spPr>
          <a:xfrm>
            <a:off x="1656566" y="2103120"/>
            <a:ext cx="8878562" cy="4315968"/>
          </a:xfrm>
          <a:prstGeom prst="rect">
            <a:avLst/>
          </a:prstGeom>
        </p:spPr>
      </p:pic>
      <p:sp>
        <p:nvSpPr>
          <p:cNvPr id="7" name="Rectangle 6"/>
          <p:cNvSpPr/>
          <p:nvPr/>
        </p:nvSpPr>
        <p:spPr>
          <a:xfrm>
            <a:off x="1656566" y="2103120"/>
            <a:ext cx="8878562" cy="4315968"/>
          </a:xfrm>
          <a:prstGeom prst="rect">
            <a:avLst/>
          </a:prstGeom>
          <a:noFill/>
          <a:ln w="1397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Prototype walkthrough</a:t>
            </a:r>
          </a:p>
        </p:txBody>
      </p:sp>
      <p:sp>
        <p:nvSpPr>
          <p:cNvPr id="9" name="TextBox 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PROTOTYPE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2700" b="0" i="0">
                <a:solidFill>
                  <a:srgbClr val="1A1A1A"/>
                </a:solidFill>
                <a:latin typeface="Georgia"/>
              </a:rPr>
              <a:t>Evidence, separated</a:t>
            </a:r>
          </a:p>
        </p:txBody>
      </p:sp>
      <p:sp>
        <p:nvSpPr>
          <p:cNvPr id="5" name="TextBox 4"/>
          <p:cNvSpPr txBox="1"/>
          <p:nvPr/>
        </p:nvSpPr>
        <p:spPr>
          <a:xfrm>
            <a:off x="713232" y="1371600"/>
            <a:ext cx="10607040" cy="566928"/>
          </a:xfrm>
          <a:prstGeom prst="rect">
            <a:avLst/>
          </a:prstGeom>
          <a:noFill/>
        </p:spPr>
        <p:txBody>
          <a:bodyPr wrap="square" lIns="0" rIns="0" tIns="0" bIns="0" anchor="t">
            <a:spAutoFit/>
          </a:bodyPr>
          <a:lstStyle/>
          <a:p>
            <a:pPr algn="l">
              <a:lnSpc>
                <a:spcPct val="140000"/>
              </a:lnSpc>
              <a:spcBef>
                <a:spcPts val="0"/>
              </a:spcBef>
              <a:spcAft>
                <a:spcPts val="0"/>
              </a:spcAft>
            </a:pPr>
            <a:r>
              <a:rPr sz="1250" b="0" i="0">
                <a:solidFill>
                  <a:srgbClr val="4A4845"/>
                </a:solidFill>
                <a:latin typeface="Calibri"/>
              </a:rPr>
              <a:t>The blue-marked block is what the sources say. The purple block below it is labelled "our interpretation — not from the sources". Headcount claims carry their basis. Every source is one click away.</a:t>
            </a:r>
          </a:p>
        </p:txBody>
      </p:sp>
      <p:pic>
        <p:nvPicPr>
          <p:cNvPr id="6" name="Picture 5" descr="crop-05-company-detail.png"/>
          <p:cNvPicPr>
            <a:picLocks noChangeAspect="1"/>
          </p:cNvPicPr>
          <p:nvPr/>
        </p:nvPicPr>
        <p:blipFill>
          <a:blip r:embed="rId2"/>
          <a:stretch>
            <a:fillRect/>
          </a:stretch>
        </p:blipFill>
        <p:spPr>
          <a:xfrm>
            <a:off x="1656566" y="2103120"/>
            <a:ext cx="8878562" cy="4315968"/>
          </a:xfrm>
          <a:prstGeom prst="rect">
            <a:avLst/>
          </a:prstGeom>
        </p:spPr>
      </p:pic>
      <p:sp>
        <p:nvSpPr>
          <p:cNvPr id="7" name="Rectangle 6"/>
          <p:cNvSpPr/>
          <p:nvPr/>
        </p:nvSpPr>
        <p:spPr>
          <a:xfrm>
            <a:off x="1656566" y="2103120"/>
            <a:ext cx="8878562" cy="4315968"/>
          </a:xfrm>
          <a:prstGeom prst="rect">
            <a:avLst/>
          </a:prstGeom>
          <a:noFill/>
          <a:ln w="1397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Prototype walkthrough</a:t>
            </a:r>
          </a:p>
        </p:txBody>
      </p:sp>
      <p:sp>
        <p:nvSpPr>
          <p:cNvPr id="9" name="TextBox 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PROTOTYPE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2700" b="0" i="0">
                <a:solidFill>
                  <a:srgbClr val="1A1A1A"/>
                </a:solidFill>
                <a:latin typeface="Georgia"/>
              </a:rPr>
              <a:t>Ask: refusing well</a:t>
            </a:r>
          </a:p>
        </p:txBody>
      </p:sp>
      <p:sp>
        <p:nvSpPr>
          <p:cNvPr id="5" name="TextBox 4"/>
          <p:cNvSpPr txBox="1"/>
          <p:nvPr/>
        </p:nvSpPr>
        <p:spPr>
          <a:xfrm>
            <a:off x="713232" y="1371600"/>
            <a:ext cx="10607040" cy="566928"/>
          </a:xfrm>
          <a:prstGeom prst="rect">
            <a:avLst/>
          </a:prstGeom>
          <a:noFill/>
        </p:spPr>
        <p:txBody>
          <a:bodyPr wrap="square" lIns="0" rIns="0" tIns="0" bIns="0" anchor="t">
            <a:spAutoFit/>
          </a:bodyPr>
          <a:lstStyle/>
          <a:p>
            <a:pPr algn="l">
              <a:lnSpc>
                <a:spcPct val="140000"/>
              </a:lnSpc>
              <a:spcBef>
                <a:spcPts val="0"/>
              </a:spcBef>
              <a:spcAft>
                <a:spcPts val="0"/>
              </a:spcAft>
            </a:pPr>
            <a:r>
              <a:rPr sz="1250" b="0" i="0">
                <a:solidFill>
                  <a:srgbClr val="4A4845"/>
                </a:solidFill>
                <a:latin typeface="Calibri"/>
              </a:rPr>
              <a:t>Asked about salaries, it names exactly what it does not hold and why, then points to the method page. It cites nothing, because it has nothing. The panel below states plainly that this is keyword search, not AI.</a:t>
            </a:r>
          </a:p>
        </p:txBody>
      </p:sp>
      <p:pic>
        <p:nvPicPr>
          <p:cNvPr id="6" name="Picture 5" descr="crop-07-ask-refusal.png"/>
          <p:cNvPicPr>
            <a:picLocks noChangeAspect="1"/>
          </p:cNvPicPr>
          <p:nvPr/>
        </p:nvPicPr>
        <p:blipFill>
          <a:blip r:embed="rId2"/>
          <a:stretch>
            <a:fillRect/>
          </a:stretch>
        </p:blipFill>
        <p:spPr>
          <a:xfrm>
            <a:off x="1387519" y="2103120"/>
            <a:ext cx="9416657" cy="4315968"/>
          </a:xfrm>
          <a:prstGeom prst="rect">
            <a:avLst/>
          </a:prstGeom>
        </p:spPr>
      </p:pic>
      <p:sp>
        <p:nvSpPr>
          <p:cNvPr id="7" name="Rectangle 6"/>
          <p:cNvSpPr/>
          <p:nvPr/>
        </p:nvSpPr>
        <p:spPr>
          <a:xfrm>
            <a:off x="1387519" y="2103120"/>
            <a:ext cx="9416657" cy="4315968"/>
          </a:xfrm>
          <a:prstGeom prst="rect">
            <a:avLst/>
          </a:prstGeom>
          <a:noFill/>
          <a:ln w="1397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Prototype walkthrough</a:t>
            </a:r>
          </a:p>
        </p:txBody>
      </p:sp>
      <p:sp>
        <p:nvSpPr>
          <p:cNvPr id="9" name="TextBox 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PROTOTYPE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2700" b="0" i="0">
                <a:solidFill>
                  <a:srgbClr val="1A1A1A"/>
                </a:solidFill>
                <a:latin typeface="Georgia"/>
              </a:rPr>
              <a:t>Verification built in</a:t>
            </a:r>
          </a:p>
        </p:txBody>
      </p:sp>
      <p:sp>
        <p:nvSpPr>
          <p:cNvPr id="5" name="TextBox 4"/>
          <p:cNvSpPr txBox="1"/>
          <p:nvPr/>
        </p:nvSpPr>
        <p:spPr>
          <a:xfrm>
            <a:off x="713232" y="1371600"/>
            <a:ext cx="10607040" cy="566928"/>
          </a:xfrm>
          <a:prstGeom prst="rect">
            <a:avLst/>
          </a:prstGeom>
          <a:noFill/>
        </p:spPr>
        <p:txBody>
          <a:bodyPr wrap="square" lIns="0" rIns="0" tIns="0" bIns="0" anchor="t">
            <a:spAutoFit/>
          </a:bodyPr>
          <a:lstStyle/>
          <a:p>
            <a:pPr algn="l">
              <a:lnSpc>
                <a:spcPct val="140000"/>
              </a:lnSpc>
              <a:spcBef>
                <a:spcPts val="0"/>
              </a:spcBef>
              <a:spcAft>
                <a:spcPts val="0"/>
              </a:spcAft>
            </a:pPr>
            <a:r>
              <a:rPr sz="1250" b="0" i="0">
                <a:solidFill>
                  <a:srgbClr val="4A4845"/>
                </a:solidFill>
                <a:latin typeface="Calibri"/>
              </a:rPr>
              <a:t>All 47 source links in one checklist, so the research can be audited link by link. This page exists because the dataset was assembled from search results and the links still need first-hand confirmation.</a:t>
            </a:r>
          </a:p>
        </p:txBody>
      </p:sp>
      <p:pic>
        <p:nvPicPr>
          <p:cNvPr id="6" name="Picture 5" descr="crop-10-verify.png"/>
          <p:cNvPicPr>
            <a:picLocks noChangeAspect="1"/>
          </p:cNvPicPr>
          <p:nvPr/>
        </p:nvPicPr>
        <p:blipFill>
          <a:blip r:embed="rId2"/>
          <a:stretch>
            <a:fillRect/>
          </a:stretch>
        </p:blipFill>
        <p:spPr>
          <a:xfrm>
            <a:off x="1656566" y="2103120"/>
            <a:ext cx="8878562" cy="4315968"/>
          </a:xfrm>
          <a:prstGeom prst="rect">
            <a:avLst/>
          </a:prstGeom>
        </p:spPr>
      </p:pic>
      <p:sp>
        <p:nvSpPr>
          <p:cNvPr id="7" name="Rectangle 6"/>
          <p:cNvSpPr/>
          <p:nvPr/>
        </p:nvSpPr>
        <p:spPr>
          <a:xfrm>
            <a:off x="1656566" y="2103120"/>
            <a:ext cx="8878562" cy="4315968"/>
          </a:xfrm>
          <a:prstGeom prst="rect">
            <a:avLst/>
          </a:prstGeom>
          <a:noFill/>
          <a:ln w="1397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Prototype walkthrough</a:t>
            </a:r>
          </a:p>
        </p:txBody>
      </p:sp>
      <p:sp>
        <p:nvSpPr>
          <p:cNvPr id="9" name="TextBox 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SCOPE</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Why these features, and what I deliberately cut</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737360"/>
            <a:ext cx="5486400" cy="274320"/>
          </a:xfrm>
          <a:prstGeom prst="rect">
            <a:avLst/>
          </a:prstGeom>
          <a:noFill/>
        </p:spPr>
        <p:txBody>
          <a:bodyPr wrap="square" lIns="0" rIns="0" tIns="0" bIns="0" anchor="t">
            <a:spAutoFit/>
          </a:bodyPr>
          <a:lstStyle/>
          <a:p>
            <a:pPr algn="l">
              <a:lnSpc>
                <a:spcPct val="135000"/>
              </a:lnSpc>
              <a:spcBef>
                <a:spcPts val="0"/>
              </a:spcBef>
              <a:spcAft>
                <a:spcPts val="0"/>
              </a:spcAft>
            </a:pPr>
            <a:r>
              <a:rPr sz="1000" b="1" i="0">
                <a:solidFill>
                  <a:srgbClr val="1D5C43"/>
                </a:solidFill>
                <a:latin typeface="Calibri"/>
              </a:rPr>
              <a:t>BUILT — because the journey breaks without it</a:t>
            </a:r>
          </a:p>
        </p:txBody>
      </p:sp>
      <p:sp>
        <p:nvSpPr>
          <p:cNvPr id="7" name="Rectangle 6"/>
          <p:cNvSpPr/>
          <p:nvPr/>
        </p:nvSpPr>
        <p:spPr>
          <a:xfrm>
            <a:off x="713232" y="202996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2140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Overview — </a:t>
            </a:r>
            <a:r>
              <a:rPr sz="1100" b="0">
                <a:solidFill>
                  <a:srgbClr val="4A4845"/>
                </a:solidFill>
                <a:latin typeface="Calibri"/>
              </a:rPr>
              <a:t>orientation: what is in here, and how much</a:t>
            </a:r>
          </a:p>
        </p:txBody>
      </p:sp>
      <p:sp>
        <p:nvSpPr>
          <p:cNvPr id="9" name="Rectangle 8"/>
          <p:cNvSpPr/>
          <p:nvPr/>
        </p:nvSpPr>
        <p:spPr>
          <a:xfrm>
            <a:off x="713232" y="257860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7004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Activity table + filters — </a:t>
            </a:r>
            <a:r>
              <a:rPr sz="1100" b="0">
                <a:solidFill>
                  <a:srgbClr val="4A4845"/>
                </a:solidFill>
                <a:latin typeface="Calibri"/>
              </a:rPr>
              <a:t>the actual working surface</a:t>
            </a:r>
          </a:p>
        </p:txBody>
      </p:sp>
      <p:sp>
        <p:nvSpPr>
          <p:cNvPr id="11" name="Rectangle 10"/>
          <p:cNvSpPr/>
          <p:nvPr/>
        </p:nvSpPr>
        <p:spPr>
          <a:xfrm>
            <a:off x="713232" y="312724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21868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Company detail — </a:t>
            </a:r>
            <a:r>
              <a:rPr sz="1100" b="0">
                <a:solidFill>
                  <a:srgbClr val="4A4845"/>
                </a:solidFill>
                <a:latin typeface="Calibri"/>
              </a:rPr>
              <a:t>where trust is won or lost</a:t>
            </a:r>
          </a:p>
        </p:txBody>
      </p:sp>
      <p:sp>
        <p:nvSpPr>
          <p:cNvPr id="13" name="Rectangle 12"/>
          <p:cNvSpPr/>
          <p:nvPr/>
        </p:nvSpPr>
        <p:spPr>
          <a:xfrm>
            <a:off x="713232" y="367588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76732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Ask — </a:t>
            </a:r>
            <a:r>
              <a:rPr sz="1100" b="0">
                <a:solidFill>
                  <a:srgbClr val="4A4845"/>
                </a:solidFill>
                <a:latin typeface="Calibri"/>
              </a:rPr>
              <a:t>a faster route in for a specific question</a:t>
            </a:r>
          </a:p>
        </p:txBody>
      </p:sp>
      <p:sp>
        <p:nvSpPr>
          <p:cNvPr id="15" name="Rectangle 14"/>
          <p:cNvSpPr/>
          <p:nvPr/>
        </p:nvSpPr>
        <p:spPr>
          <a:xfrm>
            <a:off x="713232" y="422452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31596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City breakdown — </a:t>
            </a:r>
            <a:r>
              <a:rPr sz="1100" b="0">
                <a:solidFill>
                  <a:srgbClr val="4A4845"/>
                </a:solidFill>
                <a:latin typeface="Calibri"/>
              </a:rPr>
              <a:t>pattern view, counted only from these records</a:t>
            </a:r>
          </a:p>
        </p:txBody>
      </p:sp>
      <p:sp>
        <p:nvSpPr>
          <p:cNvPr id="17" name="Rectangle 16"/>
          <p:cNvSpPr/>
          <p:nvPr/>
        </p:nvSpPr>
        <p:spPr>
          <a:xfrm>
            <a:off x="713232" y="477316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86460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Sources &amp; Method — </a:t>
            </a:r>
            <a:r>
              <a:rPr sz="1100" b="0">
                <a:solidFill>
                  <a:srgbClr val="4A4845"/>
                </a:solidFill>
                <a:latin typeface="Calibri"/>
              </a:rPr>
              <a:t>a tool that won't explain itself can't be trusted</a:t>
            </a:r>
          </a:p>
        </p:txBody>
      </p:sp>
      <p:sp>
        <p:nvSpPr>
          <p:cNvPr id="19" name="Rectangle 18"/>
          <p:cNvSpPr/>
          <p:nvPr/>
        </p:nvSpPr>
        <p:spPr>
          <a:xfrm>
            <a:off x="713232" y="5321808"/>
            <a:ext cx="5486400" cy="475488"/>
          </a:xfrm>
          <a:prstGeom prst="rect">
            <a:avLst/>
          </a:prstGeom>
          <a:solidFill>
            <a:srgbClr val="E8F1ED"/>
          </a:solidFill>
          <a:ln w="11430">
            <a:solidFill>
              <a:srgbClr val="E8F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413248"/>
            <a:ext cx="521208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Verify checklist — </a:t>
            </a:r>
            <a:r>
              <a:rPr sz="1100" b="0">
                <a:solidFill>
                  <a:srgbClr val="4A4845"/>
                </a:solidFill>
                <a:latin typeface="Calibri"/>
              </a:rPr>
              <a:t>makes the research auditable</a:t>
            </a:r>
          </a:p>
        </p:txBody>
      </p:sp>
      <p:sp>
        <p:nvSpPr>
          <p:cNvPr id="21" name="TextBox 20"/>
          <p:cNvSpPr txBox="1"/>
          <p:nvPr/>
        </p:nvSpPr>
        <p:spPr>
          <a:xfrm>
            <a:off x="6565392" y="1737360"/>
            <a:ext cx="4846320" cy="274320"/>
          </a:xfrm>
          <a:prstGeom prst="rect">
            <a:avLst/>
          </a:prstGeom>
          <a:noFill/>
        </p:spPr>
        <p:txBody>
          <a:bodyPr wrap="square" lIns="0" rIns="0" tIns="0" bIns="0" anchor="t">
            <a:spAutoFit/>
          </a:bodyPr>
          <a:lstStyle/>
          <a:p>
            <a:pPr algn="l">
              <a:lnSpc>
                <a:spcPct val="135000"/>
              </a:lnSpc>
              <a:spcBef>
                <a:spcPts val="0"/>
              </a:spcBef>
              <a:spcAft>
                <a:spcPts val="0"/>
              </a:spcAft>
            </a:pPr>
            <a:r>
              <a:rPr sz="1000" b="1" i="0">
                <a:solidFill>
                  <a:srgbClr val="7D3B36"/>
                </a:solidFill>
                <a:latin typeface="Calibri"/>
              </a:rPr>
              <a:t>CUT — and why</a:t>
            </a:r>
          </a:p>
        </p:txBody>
      </p:sp>
      <p:sp>
        <p:nvSpPr>
          <p:cNvPr id="22" name="Rectangle 21"/>
          <p:cNvSpPr/>
          <p:nvPr/>
        </p:nvSpPr>
        <p:spPr>
          <a:xfrm>
            <a:off x="6565392" y="202996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11696" y="212140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State incentive comparison — </a:t>
            </a:r>
            <a:r>
              <a:rPr sz="1100" b="0">
                <a:solidFill>
                  <a:srgbClr val="4A4845"/>
                </a:solidFill>
                <a:latin typeface="Calibri"/>
              </a:rPr>
              <a:t>the most error-prone data in this market; wrong is worse than absent</a:t>
            </a:r>
          </a:p>
        </p:txBody>
      </p:sp>
      <p:sp>
        <p:nvSpPr>
          <p:cNvPr id="24" name="Rectangle 23"/>
          <p:cNvSpPr/>
          <p:nvPr/>
        </p:nvSpPr>
        <p:spPr>
          <a:xfrm>
            <a:off x="6565392" y="257860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11696" y="267004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Office cost benchmarks — </a:t>
            </a:r>
            <a:r>
              <a:rPr sz="1100" b="0">
                <a:solidFill>
                  <a:srgbClr val="4A4845"/>
                </a:solidFill>
                <a:latin typeface="Calibri"/>
              </a:rPr>
              <a:t>could not source reliably enough to publish</a:t>
            </a:r>
          </a:p>
        </p:txBody>
      </p:sp>
      <p:sp>
        <p:nvSpPr>
          <p:cNvPr id="26" name="Rectangle 25"/>
          <p:cNvSpPr/>
          <p:nvPr/>
        </p:nvSpPr>
        <p:spPr>
          <a:xfrm>
            <a:off x="6565392" y="312724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11696" y="321868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Contact data — </a:t>
            </a:r>
            <a:r>
              <a:rPr sz="1100" b="0">
                <a:solidFill>
                  <a:srgbClr val="4A4845"/>
                </a:solidFill>
                <a:latin typeface="Calibri"/>
              </a:rPr>
              <a:t>a data-protection question I should not answer casually</a:t>
            </a:r>
          </a:p>
        </p:txBody>
      </p:sp>
      <p:sp>
        <p:nvSpPr>
          <p:cNvPr id="28" name="Rectangle 27"/>
          <p:cNvSpPr/>
          <p:nvPr/>
        </p:nvSpPr>
        <p:spPr>
          <a:xfrm>
            <a:off x="6565392" y="367588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11696" y="376732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Live ingestion — </a:t>
            </a:r>
            <a:r>
              <a:rPr sz="1100" b="0">
                <a:solidFill>
                  <a:srgbClr val="4A4845"/>
                </a:solidFill>
                <a:latin typeface="Calibri"/>
              </a:rPr>
              <a:t>real engineering; not demonstrable in the time</a:t>
            </a:r>
          </a:p>
        </p:txBody>
      </p:sp>
      <p:sp>
        <p:nvSpPr>
          <p:cNvPr id="30" name="Rectangle 29"/>
          <p:cNvSpPr/>
          <p:nvPr/>
        </p:nvSpPr>
        <p:spPr>
          <a:xfrm>
            <a:off x="6565392" y="422452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11696" y="431596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Login and saved accounts — </a:t>
            </a:r>
            <a:r>
              <a:rPr sz="1100" b="0">
                <a:solidFill>
                  <a:srgbClr val="4A4845"/>
                </a:solidFill>
                <a:latin typeface="Calibri"/>
              </a:rPr>
              <a:t>nothing here is private</a:t>
            </a:r>
          </a:p>
        </p:txBody>
      </p:sp>
      <p:sp>
        <p:nvSpPr>
          <p:cNvPr id="32" name="Rectangle 31"/>
          <p:cNvSpPr/>
          <p:nvPr/>
        </p:nvSpPr>
        <p:spPr>
          <a:xfrm>
            <a:off x="6565392" y="477316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11696" y="486460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A database — </a:t>
            </a:r>
            <a:r>
              <a:rPr sz="1100" b="0">
                <a:solidFill>
                  <a:srgbClr val="4A4845"/>
                </a:solidFill>
                <a:latin typeface="Calibri"/>
              </a:rPr>
              <a:t>20 records in a file is the right answer; a database adds steps, not ability</a:t>
            </a:r>
          </a:p>
        </p:txBody>
      </p:sp>
      <p:sp>
        <p:nvSpPr>
          <p:cNvPr id="34" name="Rectangle 33"/>
          <p:cNvSpPr/>
          <p:nvPr/>
        </p:nvSpPr>
        <p:spPr>
          <a:xfrm>
            <a:off x="6565392" y="5321808"/>
            <a:ext cx="4846320" cy="475488"/>
          </a:xfrm>
          <a:prstGeom prst="rect">
            <a:avLst/>
          </a:prstGeom>
          <a:solidFill>
            <a:srgbClr val="FFFFFF"/>
          </a:solidFill>
          <a:ln w="11430">
            <a:solidFill>
              <a:srgbClr val="E2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11696" y="5413248"/>
            <a:ext cx="4572000" cy="365760"/>
          </a:xfrm>
          <a:prstGeom prst="rect">
            <a:avLst/>
          </a:prstGeom>
          <a:noFill/>
        </p:spPr>
        <p:txBody>
          <a:bodyPr wrap="square" lIns="0" rIns="0" tIns="0" bIns="0" anchor="t">
            <a:spAutoFit/>
          </a:bodyPr>
          <a:lstStyle/>
          <a:p>
            <a:pPr algn="l">
              <a:lnSpc>
                <a:spcPct val="120000"/>
              </a:lnSpc>
              <a:spcAft>
                <a:spcPts val="600"/>
              </a:spcAft>
            </a:pPr>
            <a:r>
              <a:rPr sz="1100" b="1">
                <a:solidFill>
                  <a:srgbClr val="1A1A1A"/>
                </a:solidFill>
                <a:latin typeface="Calibri"/>
              </a:rPr>
              <a:t>A framework — </a:t>
            </a:r>
            <a:r>
              <a:rPr sz="1100" b="0">
                <a:solidFill>
                  <a:srgbClr val="4A4845"/>
                </a:solidFill>
                <a:latin typeface="Calibri"/>
              </a:rPr>
              <a:t>no build step means it opens by double-clicking</a:t>
            </a:r>
          </a:p>
        </p:txBody>
      </p:sp>
      <p:sp>
        <p:nvSpPr>
          <p:cNvPr id="36" name="TextBox 35"/>
          <p:cNvSpPr txBox="1"/>
          <p:nvPr/>
        </p:nvSpPr>
        <p:spPr>
          <a:xfrm>
            <a:off x="713232" y="5760720"/>
            <a:ext cx="10765231" cy="457200"/>
          </a:xfrm>
          <a:prstGeom prst="rect">
            <a:avLst/>
          </a:prstGeom>
          <a:noFill/>
        </p:spPr>
        <p:txBody>
          <a:bodyPr wrap="square" lIns="0" rIns="0" tIns="0" bIns="0" anchor="t">
            <a:spAutoFit/>
          </a:bodyPr>
          <a:lstStyle/>
          <a:p>
            <a:pPr algn="l">
              <a:lnSpc>
                <a:spcPct val="135000"/>
              </a:lnSpc>
              <a:spcAft>
                <a:spcPts val="600"/>
              </a:spcAft>
            </a:pPr>
            <a:r>
              <a:rPr sz="1250" b="1">
                <a:solidFill>
                  <a:srgbClr val="1F3A5F"/>
                </a:solidFill>
                <a:latin typeface="Calibri"/>
              </a:rPr>
              <a:t>The build: </a:t>
            </a:r>
            <a:r>
              <a:rPr sz="1250" b="0">
                <a:solidFill>
                  <a:srgbClr val="4A4845"/>
                </a:solidFill>
                <a:latin typeface="Calibri"/>
              </a:rPr>
              <a:t>plain HTML, CSS and JavaScript. No framework, no server, no database, no API key, no paid service. It opens by double-clicking a file and works offline. I can explain every line of it.</a:t>
            </a:r>
          </a:p>
        </p:txBody>
      </p:sp>
      <p:sp>
        <p:nvSpPr>
          <p:cNvPr id="37" name="TextBox 36"/>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Scope &amp; trade-offs</a:t>
            </a:r>
          </a:p>
        </p:txBody>
      </p:sp>
      <p:sp>
        <p:nvSpPr>
          <p:cNvPr id="38" name="TextBox 37"/>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POSITIONING</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000" b="0" i="0">
                <a:solidFill>
                  <a:srgbClr val="1A1A1A"/>
                </a:solidFill>
                <a:latin typeface="Georgia"/>
              </a:rPr>
              <a:t>Why use this instead of today's alternatives</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783080"/>
            <a:ext cx="265176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THEY USE TODAY</a:t>
            </a:r>
          </a:p>
        </p:txBody>
      </p:sp>
      <p:sp>
        <p:nvSpPr>
          <p:cNvPr id="7" name="TextBox 6"/>
          <p:cNvSpPr txBox="1"/>
          <p:nvPr/>
        </p:nvSpPr>
        <p:spPr>
          <a:xfrm>
            <a:off x="3547872" y="1783080"/>
            <a:ext cx="320040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WHAT IT GIVES THEM</a:t>
            </a:r>
          </a:p>
        </p:txBody>
      </p:sp>
      <p:sp>
        <p:nvSpPr>
          <p:cNvPr id="8" name="TextBox 7"/>
          <p:cNvSpPr txBox="1"/>
          <p:nvPr/>
        </p:nvSpPr>
        <p:spPr>
          <a:xfrm>
            <a:off x="6931152" y="1783080"/>
            <a:ext cx="475488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WHAT GCC ATLAS ADDS</a:t>
            </a:r>
          </a:p>
        </p:txBody>
      </p:sp>
      <p:sp>
        <p:nvSpPr>
          <p:cNvPr id="9" name="Rectangle 8"/>
          <p:cNvSpPr/>
          <p:nvPr/>
        </p:nvSpPr>
        <p:spPr>
          <a:xfrm>
            <a:off x="713232" y="2057400"/>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203704"/>
            <a:ext cx="2651760" cy="64008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A1A1A"/>
                </a:solidFill>
                <a:latin typeface="Calibri"/>
              </a:rPr>
              <a:t>Industry reports</a:t>
            </a:r>
          </a:p>
        </p:txBody>
      </p:sp>
      <p:sp>
        <p:nvSpPr>
          <p:cNvPr id="11" name="TextBox 10"/>
          <p:cNvSpPr txBox="1"/>
          <p:nvPr/>
        </p:nvSpPr>
        <p:spPr>
          <a:xfrm>
            <a:off x="3547872" y="2203704"/>
            <a:ext cx="320040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A7772"/>
                </a:solidFill>
                <a:latin typeface="Calibri"/>
              </a:rPr>
              <a:t>Market-level picture, annually</a:t>
            </a:r>
          </a:p>
        </p:txBody>
      </p:sp>
      <p:sp>
        <p:nvSpPr>
          <p:cNvPr id="12" name="TextBox 11"/>
          <p:cNvSpPr txBox="1"/>
          <p:nvPr/>
        </p:nvSpPr>
        <p:spPr>
          <a:xfrm>
            <a:off x="6931152" y="2203704"/>
            <a:ext cx="475488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1A1A1A"/>
                </a:solidFill>
                <a:latin typeface="Calibri"/>
              </a:rPr>
              <a:t>Per-company and dated, so it supports an action this week</a:t>
            </a:r>
          </a:p>
        </p:txBody>
      </p:sp>
      <p:sp>
        <p:nvSpPr>
          <p:cNvPr id="13" name="TextBox 12"/>
          <p:cNvSpPr txBox="1"/>
          <p:nvPr/>
        </p:nvSpPr>
        <p:spPr>
          <a:xfrm>
            <a:off x="713232" y="2898648"/>
            <a:ext cx="2651760" cy="64008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A1A1A"/>
                </a:solidFill>
                <a:latin typeface="Calibri"/>
              </a:rPr>
              <a:t>Directory pages
(including Flexiple's)</a:t>
            </a:r>
          </a:p>
        </p:txBody>
      </p:sp>
      <p:sp>
        <p:nvSpPr>
          <p:cNvPr id="14" name="TextBox 13"/>
          <p:cNvSpPr txBox="1"/>
          <p:nvPr/>
        </p:nvSpPr>
        <p:spPr>
          <a:xfrm>
            <a:off x="3547872" y="2898648"/>
            <a:ext cx="320040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A7772"/>
                </a:solidFill>
                <a:latin typeface="Calibri"/>
              </a:rPr>
              <a:t>A list of company names</a:t>
            </a:r>
          </a:p>
        </p:txBody>
      </p:sp>
      <p:sp>
        <p:nvSpPr>
          <p:cNvPr id="15" name="TextBox 14"/>
          <p:cNvSpPr txBox="1"/>
          <p:nvPr/>
        </p:nvSpPr>
        <p:spPr>
          <a:xfrm>
            <a:off x="6931152" y="2898648"/>
            <a:ext cx="475488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1A1A1A"/>
                </a:solidFill>
                <a:latin typeface="Calibri"/>
              </a:rPr>
              <a:t>Each entry carries its source, date, confidence and caveats — a list becomes checkable evidence</a:t>
            </a:r>
          </a:p>
        </p:txBody>
      </p:sp>
      <p:sp>
        <p:nvSpPr>
          <p:cNvPr id="16" name="TextBox 15"/>
          <p:cNvSpPr txBox="1"/>
          <p:nvPr/>
        </p:nvSpPr>
        <p:spPr>
          <a:xfrm>
            <a:off x="713232" y="3593592"/>
            <a:ext cx="2651760" cy="64008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A1A1A"/>
                </a:solidFill>
                <a:latin typeface="Calibri"/>
              </a:rPr>
              <a:t>Google News search</a:t>
            </a:r>
          </a:p>
        </p:txBody>
      </p:sp>
      <p:sp>
        <p:nvSpPr>
          <p:cNvPr id="17" name="TextBox 16"/>
          <p:cNvSpPr txBox="1"/>
          <p:nvPr/>
        </p:nvSpPr>
        <p:spPr>
          <a:xfrm>
            <a:off x="3547872" y="3593592"/>
            <a:ext cx="320040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A7772"/>
                </a:solidFill>
                <a:latin typeface="Calibri"/>
              </a:rPr>
              <a:t>Everything, unranked and unlabelled</a:t>
            </a:r>
          </a:p>
        </p:txBody>
      </p:sp>
      <p:sp>
        <p:nvSpPr>
          <p:cNvPr id="18" name="TextBox 17"/>
          <p:cNvSpPr txBox="1"/>
          <p:nvPr/>
        </p:nvSpPr>
        <p:spPr>
          <a:xfrm>
            <a:off x="6931152" y="3593592"/>
            <a:ext cx="475488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1A1A1A"/>
                </a:solidFill>
                <a:latin typeface="Calibri"/>
              </a:rPr>
              <a:t>Curated across six naming conventions, with weak sources excluded on purpose</a:t>
            </a:r>
          </a:p>
        </p:txBody>
      </p:sp>
      <p:sp>
        <p:nvSpPr>
          <p:cNvPr id="19" name="TextBox 18"/>
          <p:cNvSpPr txBox="1"/>
          <p:nvPr/>
        </p:nvSpPr>
        <p:spPr>
          <a:xfrm>
            <a:off x="713232" y="4288536"/>
            <a:ext cx="2651760" cy="64008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A1A1A"/>
                </a:solidFill>
                <a:latin typeface="Calibri"/>
              </a:rPr>
              <a:t>LinkedIn roundups</a:t>
            </a:r>
          </a:p>
        </p:txBody>
      </p:sp>
      <p:sp>
        <p:nvSpPr>
          <p:cNvPr id="20" name="TextBox 19"/>
          <p:cNvSpPr txBox="1"/>
          <p:nvPr/>
        </p:nvSpPr>
        <p:spPr>
          <a:xfrm>
            <a:off x="3547872" y="4288536"/>
            <a:ext cx="320040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A7772"/>
                </a:solidFill>
                <a:latin typeface="Calibri"/>
              </a:rPr>
              <a:t>Fast, specific, usually unsourced</a:t>
            </a:r>
          </a:p>
        </p:txBody>
      </p:sp>
      <p:sp>
        <p:nvSpPr>
          <p:cNvPr id="21" name="TextBox 20"/>
          <p:cNvSpPr txBox="1"/>
          <p:nvPr/>
        </p:nvSpPr>
        <p:spPr>
          <a:xfrm>
            <a:off x="6931152" y="4288536"/>
            <a:ext cx="475488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1A1A1A"/>
                </a:solidFill>
                <a:latin typeface="Calibri"/>
              </a:rPr>
              <a:t>Records without a named publication behind them were left out</a:t>
            </a:r>
          </a:p>
        </p:txBody>
      </p:sp>
      <p:sp>
        <p:nvSpPr>
          <p:cNvPr id="22" name="TextBox 21"/>
          <p:cNvSpPr txBox="1"/>
          <p:nvPr/>
        </p:nvSpPr>
        <p:spPr>
          <a:xfrm>
            <a:off x="713232" y="4983480"/>
            <a:ext cx="2651760" cy="64008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A1A1A"/>
                </a:solidFill>
                <a:latin typeface="Calibri"/>
              </a:rPr>
              <a:t>A general AI chatbot</a:t>
            </a:r>
          </a:p>
        </p:txBody>
      </p:sp>
      <p:sp>
        <p:nvSpPr>
          <p:cNvPr id="23" name="TextBox 22"/>
          <p:cNvSpPr txBox="1"/>
          <p:nvPr/>
        </p:nvSpPr>
        <p:spPr>
          <a:xfrm>
            <a:off x="3547872" y="4983480"/>
            <a:ext cx="320040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7A7772"/>
                </a:solidFill>
                <a:latin typeface="Calibri"/>
              </a:rPr>
              <a:t>Fluent answers, unverifiable</a:t>
            </a:r>
          </a:p>
        </p:txBody>
      </p:sp>
      <p:sp>
        <p:nvSpPr>
          <p:cNvPr id="24" name="TextBox 23"/>
          <p:cNvSpPr txBox="1"/>
          <p:nvPr/>
        </p:nvSpPr>
        <p:spPr>
          <a:xfrm>
            <a:off x="6931152" y="4983480"/>
            <a:ext cx="4754880" cy="64008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1A1A1A"/>
                </a:solidFill>
                <a:latin typeface="Calibri"/>
              </a:rPr>
              <a:t>Answers only from 20 cited records, and refuses when it has nothing</a:t>
            </a:r>
          </a:p>
        </p:txBody>
      </p:sp>
      <p:sp>
        <p:nvSpPr>
          <p:cNvPr id="25" name="Rectangle 24"/>
          <p:cNvSpPr/>
          <p:nvPr/>
        </p:nvSpPr>
        <p:spPr>
          <a:xfrm>
            <a:off x="713232" y="5596128"/>
            <a:ext cx="10765231" cy="658368"/>
          </a:xfrm>
          <a:prstGeom prst="rect">
            <a:avLst/>
          </a:prstGeom>
          <a:solidFill>
            <a:srgbClr val="EAEEF4"/>
          </a:solidFill>
          <a:ln w="1143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5724144"/>
            <a:ext cx="10326319" cy="457200"/>
          </a:xfrm>
          <a:prstGeom prst="rect">
            <a:avLst/>
          </a:prstGeom>
          <a:noFill/>
        </p:spPr>
        <p:txBody>
          <a:bodyPr wrap="square" lIns="0" rIns="0" tIns="0" bIns="0" anchor="t">
            <a:spAutoFit/>
          </a:bodyPr>
          <a:lstStyle/>
          <a:p>
            <a:pPr algn="l">
              <a:lnSpc>
                <a:spcPct val="130000"/>
              </a:lnSpc>
              <a:spcAft>
                <a:spcPts val="600"/>
              </a:spcAft>
            </a:pPr>
            <a:r>
              <a:rPr sz="1150" b="1">
                <a:solidFill>
                  <a:srgbClr val="1F3A5F"/>
                </a:solidFill>
                <a:latin typeface="Calibri"/>
              </a:rPr>
              <a:t>A note on Flexiple's own pages: </a:t>
            </a:r>
            <a:r>
              <a:rPr sz="1150" b="0">
                <a:solidFill>
                  <a:srgbClr val="4A4845"/>
                </a:solidFill>
                <a:latin typeface="Calibri"/>
              </a:rPr>
              <a:t>these are good directories and they rank well. GCC Atlas is not a replacement — it is the research layer underneath, where each entry earns its place by citing something.</a:t>
            </a:r>
          </a:p>
        </p:txBody>
      </p:sp>
      <p:sp>
        <p:nvSpPr>
          <p:cNvPr id="27" name="TextBox 26"/>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Positioning</a:t>
            </a:r>
          </a:p>
        </p:txBody>
      </p:sp>
      <p:sp>
        <p:nvSpPr>
          <p:cNvPr id="28" name="TextBox 27"/>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POSITIONING</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2900" b="0" i="0">
                <a:solidFill>
                  <a:srgbClr val="1A1A1A"/>
                </a:solidFill>
                <a:latin typeface="Georgia"/>
              </a:rPr>
              <a:t>What it would take to serve the rest of the ecosystem</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350" b="0" i="0">
                <a:solidFill>
                  <a:srgbClr val="4A4845"/>
                </a:solidFill>
                <a:latin typeface="Calibri"/>
              </a:rPr>
              <a:t>I built for one stakeholder on purpose. Here is what each of the others would need before this is worth their time — and which of those I can honestly serve today.</a:t>
            </a:r>
          </a:p>
        </p:txBody>
      </p:sp>
      <p:sp>
        <p:nvSpPr>
          <p:cNvPr id="6" name="Rectangle 5"/>
          <p:cNvSpPr/>
          <p:nvPr/>
        </p:nvSpPr>
        <p:spPr>
          <a:xfrm>
            <a:off x="713232" y="2139696"/>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04288"/>
            <a:ext cx="228600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STAKEHOLDER</a:t>
            </a:r>
          </a:p>
        </p:txBody>
      </p:sp>
      <p:sp>
        <p:nvSpPr>
          <p:cNvPr id="8" name="TextBox 7"/>
          <p:cNvSpPr txBox="1"/>
          <p:nvPr/>
        </p:nvSpPr>
        <p:spPr>
          <a:xfrm>
            <a:off x="3108960" y="2304288"/>
            <a:ext cx="274320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WHAT THEY USE TODAY</a:t>
            </a:r>
          </a:p>
        </p:txBody>
      </p:sp>
      <p:sp>
        <p:nvSpPr>
          <p:cNvPr id="9" name="TextBox 8"/>
          <p:cNvSpPr txBox="1"/>
          <p:nvPr/>
        </p:nvSpPr>
        <p:spPr>
          <a:xfrm>
            <a:off x="5961888" y="2304288"/>
            <a:ext cx="393192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WHAT THEY WOULD NEED FROM THIS</a:t>
            </a:r>
          </a:p>
        </p:txBody>
      </p:sp>
      <p:sp>
        <p:nvSpPr>
          <p:cNvPr id="10" name="TextBox 9"/>
          <p:cNvSpPr txBox="1"/>
          <p:nvPr/>
        </p:nvSpPr>
        <p:spPr>
          <a:xfrm>
            <a:off x="10003536" y="2304288"/>
            <a:ext cx="1371600" cy="228600"/>
          </a:xfrm>
          <a:prstGeom prst="rect">
            <a:avLst/>
          </a:prstGeom>
          <a:noFill/>
        </p:spPr>
        <p:txBody>
          <a:bodyPr wrap="square" lIns="0" rIns="0" tIns="0" bIns="0" anchor="t">
            <a:spAutoFit/>
          </a:bodyPr>
          <a:lstStyle/>
          <a:p>
            <a:pPr algn="l">
              <a:lnSpc>
                <a:spcPct val="135000"/>
              </a:lnSpc>
              <a:spcBef>
                <a:spcPts val="0"/>
              </a:spcBef>
              <a:spcAft>
                <a:spcPts val="0"/>
              </a:spcAft>
            </a:pPr>
            <a:r>
              <a:rPr sz="950" b="1" i="0">
                <a:solidFill>
                  <a:srgbClr val="7A7772"/>
                </a:solidFill>
                <a:latin typeface="Calibri"/>
              </a:rPr>
              <a:t>STATUS</a:t>
            </a:r>
          </a:p>
        </p:txBody>
      </p:sp>
      <p:sp>
        <p:nvSpPr>
          <p:cNvPr id="11" name="Rectangle 10"/>
          <p:cNvSpPr/>
          <p:nvPr/>
        </p:nvSpPr>
        <p:spPr>
          <a:xfrm>
            <a:off x="713232" y="2578608"/>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0662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Recruitment &amp; staffing</a:t>
            </a:r>
          </a:p>
        </p:txBody>
      </p:sp>
      <p:sp>
        <p:nvSpPr>
          <p:cNvPr id="13" name="TextBox 12"/>
          <p:cNvSpPr txBox="1"/>
          <p:nvPr/>
        </p:nvSpPr>
        <p:spPr>
          <a:xfrm>
            <a:off x="3108960" y="270662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News, referrals, generic sales tools</a:t>
            </a:r>
          </a:p>
        </p:txBody>
      </p:sp>
      <p:sp>
        <p:nvSpPr>
          <p:cNvPr id="14" name="TextBox 13"/>
          <p:cNvSpPr txBox="1"/>
          <p:nvPr/>
        </p:nvSpPr>
        <p:spPr>
          <a:xfrm>
            <a:off x="5961888" y="270662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Dated, cited, per-company activity they can check before acting</a:t>
            </a:r>
          </a:p>
        </p:txBody>
      </p:sp>
      <p:sp>
        <p:nvSpPr>
          <p:cNvPr id="15" name="Rectangle 14"/>
          <p:cNvSpPr/>
          <p:nvPr/>
        </p:nvSpPr>
        <p:spPr>
          <a:xfrm>
            <a:off x="10003536" y="2688336"/>
            <a:ext cx="1371600"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Serving now</a:t>
            </a:r>
          </a:p>
        </p:txBody>
      </p:sp>
      <p:sp>
        <p:nvSpPr>
          <p:cNvPr id="16" name="TextBox 15"/>
          <p:cNvSpPr txBox="1"/>
          <p:nvPr/>
        </p:nvSpPr>
        <p:spPr>
          <a:xfrm>
            <a:off x="713232" y="320954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Advisors &amp; consultants</a:t>
            </a:r>
          </a:p>
        </p:txBody>
      </p:sp>
      <p:sp>
        <p:nvSpPr>
          <p:cNvPr id="17" name="TextBox 16"/>
          <p:cNvSpPr txBox="1"/>
          <p:nvPr/>
        </p:nvSpPr>
        <p:spPr>
          <a:xfrm>
            <a:off x="3108960" y="320954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Their own networks; subscription research</a:t>
            </a:r>
          </a:p>
        </p:txBody>
      </p:sp>
      <p:sp>
        <p:nvSpPr>
          <p:cNvPr id="18" name="TextBox 17"/>
          <p:cNvSpPr txBox="1"/>
          <p:nvPr/>
        </p:nvSpPr>
        <p:spPr>
          <a:xfrm>
            <a:off x="5961888" y="320954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Same record, plus who is at MoU stage rather than already committed</a:t>
            </a:r>
          </a:p>
        </p:txBody>
      </p:sp>
      <p:sp>
        <p:nvSpPr>
          <p:cNvPr id="19" name="Rectangle 18"/>
          <p:cNvSpPr/>
          <p:nvPr/>
        </p:nvSpPr>
        <p:spPr>
          <a:xfrm>
            <a:off x="10003536" y="3191256"/>
            <a:ext cx="1371600"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Serving now</a:t>
            </a:r>
          </a:p>
        </p:txBody>
      </p:sp>
      <p:sp>
        <p:nvSpPr>
          <p:cNvPr id="20" name="TextBox 19"/>
          <p:cNvSpPr txBox="1"/>
          <p:nvPr/>
        </p:nvSpPr>
        <p:spPr>
          <a:xfrm>
            <a:off x="713232" y="371246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Real estate firms</a:t>
            </a:r>
          </a:p>
        </p:txBody>
      </p:sp>
      <p:sp>
        <p:nvSpPr>
          <p:cNvPr id="21" name="TextBox 20"/>
          <p:cNvSpPr txBox="1"/>
          <p:nvPr/>
        </p:nvSpPr>
        <p:spPr>
          <a:xfrm>
            <a:off x="3108960" y="371246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Leasing data they already hold</a:t>
            </a:r>
          </a:p>
        </p:txBody>
      </p:sp>
      <p:sp>
        <p:nvSpPr>
          <p:cNvPr id="22" name="TextBox 21"/>
          <p:cNvSpPr txBox="1"/>
          <p:nvPr/>
        </p:nvSpPr>
        <p:spPr>
          <a:xfrm>
            <a:off x="5961888" y="371246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The reverse view — intent signals that precede a space requirement</a:t>
            </a:r>
          </a:p>
        </p:txBody>
      </p:sp>
      <p:sp>
        <p:nvSpPr>
          <p:cNvPr id="23" name="Rectangle 22"/>
          <p:cNvSpPr/>
          <p:nvPr/>
        </p:nvSpPr>
        <p:spPr>
          <a:xfrm>
            <a:off x="10003536" y="3694176"/>
            <a:ext cx="1371600" cy="237744"/>
          </a:xfrm>
          <a:prstGeom prst="rect">
            <a:avLst/>
          </a:prstGeom>
          <a:solidFill>
            <a:srgbClr val="E8F1ED"/>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1D5C43"/>
                </a:solidFill>
                <a:latin typeface="Calibri"/>
              </a:rPr>
              <a:t>Mostly today</a:t>
            </a:r>
          </a:p>
        </p:txBody>
      </p:sp>
      <p:sp>
        <p:nvSpPr>
          <p:cNvPr id="24" name="TextBox 23"/>
          <p:cNvSpPr txBox="1"/>
          <p:nvPr/>
        </p:nvSpPr>
        <p:spPr>
          <a:xfrm>
            <a:off x="713232" y="421538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State promotion agencies</a:t>
            </a:r>
          </a:p>
        </p:txBody>
      </p:sp>
      <p:sp>
        <p:nvSpPr>
          <p:cNvPr id="25" name="TextBox 24"/>
          <p:cNvSpPr txBox="1"/>
          <p:nvPr/>
        </p:nvSpPr>
        <p:spPr>
          <a:xfrm>
            <a:off x="3108960" y="421538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Their own pipeline; press monitoring</a:t>
            </a:r>
          </a:p>
        </p:txBody>
      </p:sp>
      <p:sp>
        <p:nvSpPr>
          <p:cNvPr id="26" name="TextBox 25"/>
          <p:cNvSpPr txBox="1"/>
          <p:nvPr/>
        </p:nvSpPr>
        <p:spPr>
          <a:xfrm>
            <a:off x="5961888" y="421538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A neutral record of what peer states are winning, with sources</a:t>
            </a:r>
          </a:p>
        </p:txBody>
      </p:sp>
      <p:sp>
        <p:nvSpPr>
          <p:cNvPr id="27" name="Rectangle 26"/>
          <p:cNvSpPr/>
          <p:nvPr/>
        </p:nvSpPr>
        <p:spPr>
          <a:xfrm>
            <a:off x="10003536" y="4197096"/>
            <a:ext cx="1371600" cy="237744"/>
          </a:xfrm>
          <a:prstGeom prst="rect">
            <a:avLst/>
          </a:prstGeom>
          <a:solidFill>
            <a:srgbClr val="F7F0E2"/>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5618"/>
                </a:solidFill>
                <a:latin typeface="Calibri"/>
              </a:rPr>
              <a:t>Needs coverage</a:t>
            </a:r>
          </a:p>
        </p:txBody>
      </p:sp>
      <p:sp>
        <p:nvSpPr>
          <p:cNvPr id="28" name="TextBox 27"/>
          <p:cNvSpPr txBox="1"/>
          <p:nvPr/>
        </p:nvSpPr>
        <p:spPr>
          <a:xfrm>
            <a:off x="713232" y="471830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Companies setting up a GCC</a:t>
            </a:r>
          </a:p>
        </p:txBody>
      </p:sp>
      <p:sp>
        <p:nvSpPr>
          <p:cNvPr id="29" name="TextBox 28"/>
          <p:cNvSpPr txBox="1"/>
          <p:nvPr/>
        </p:nvSpPr>
        <p:spPr>
          <a:xfrm>
            <a:off x="3108960" y="471830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Advisors, who are themselves conflicted</a:t>
            </a:r>
          </a:p>
        </p:txBody>
      </p:sp>
      <p:sp>
        <p:nvSpPr>
          <p:cNvPr id="30" name="TextBox 29"/>
          <p:cNvSpPr txBox="1"/>
          <p:nvPr/>
        </p:nvSpPr>
        <p:spPr>
          <a:xfrm>
            <a:off x="5961888" y="471830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Verified cost, incentive and provider data — none of which I hold</a:t>
            </a:r>
          </a:p>
        </p:txBody>
      </p:sp>
      <p:sp>
        <p:nvSpPr>
          <p:cNvPr id="31" name="Rectangle 30"/>
          <p:cNvSpPr/>
          <p:nvPr/>
        </p:nvSpPr>
        <p:spPr>
          <a:xfrm>
            <a:off x="10003536" y="4700016"/>
            <a:ext cx="1371600" cy="237744"/>
          </a:xfrm>
          <a:prstGeom prst="rect">
            <a:avLst/>
          </a:prstGeom>
          <a:solidFill>
            <a:srgbClr val="F8ECEB"/>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D3B36"/>
                </a:solidFill>
                <a:latin typeface="Calibri"/>
              </a:rPr>
              <a:t>Not yet</a:t>
            </a:r>
          </a:p>
        </p:txBody>
      </p:sp>
      <p:sp>
        <p:nvSpPr>
          <p:cNvPr id="32" name="TextBox 31"/>
          <p:cNvSpPr txBox="1"/>
          <p:nvPr/>
        </p:nvSpPr>
        <p:spPr>
          <a:xfrm>
            <a:off x="713232" y="5221224"/>
            <a:ext cx="228600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A1A1A"/>
                </a:solidFill>
                <a:latin typeface="Calibri"/>
              </a:rPr>
              <a:t>EOR &amp; legal providers</a:t>
            </a:r>
          </a:p>
        </p:txBody>
      </p:sp>
      <p:sp>
        <p:nvSpPr>
          <p:cNvPr id="33" name="TextBox 32"/>
          <p:cNvSpPr txBox="1"/>
          <p:nvPr/>
        </p:nvSpPr>
        <p:spPr>
          <a:xfrm>
            <a:off x="3108960" y="5221224"/>
            <a:ext cx="274320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7A7772"/>
                </a:solidFill>
                <a:latin typeface="Calibri"/>
              </a:rPr>
              <a:t>Referrals</a:t>
            </a:r>
          </a:p>
        </p:txBody>
      </p:sp>
      <p:sp>
        <p:nvSpPr>
          <p:cNvPr id="34" name="TextBox 33"/>
          <p:cNvSpPr txBox="1"/>
          <p:nvPr/>
        </p:nvSpPr>
        <p:spPr>
          <a:xfrm>
            <a:off x="5961888" y="5221224"/>
            <a:ext cx="3931920" cy="54864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1A1A1A"/>
                </a:solidFill>
                <a:latin typeface="Calibri"/>
              </a:rPr>
              <a:t>Entity-level data tying each centre to its Indian legal entity</a:t>
            </a:r>
          </a:p>
        </p:txBody>
      </p:sp>
      <p:sp>
        <p:nvSpPr>
          <p:cNvPr id="35" name="Rectangle 34"/>
          <p:cNvSpPr/>
          <p:nvPr/>
        </p:nvSpPr>
        <p:spPr>
          <a:xfrm>
            <a:off x="10003536" y="5202936"/>
            <a:ext cx="1371600" cy="237744"/>
          </a:xfrm>
          <a:prstGeom prst="rect">
            <a:avLst/>
          </a:prstGeom>
          <a:solidFill>
            <a:srgbClr val="F8ECEB"/>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D3B36"/>
                </a:solidFill>
                <a:latin typeface="Calibri"/>
              </a:rPr>
              <a:t>Not yet</a:t>
            </a:r>
          </a:p>
        </p:txBody>
      </p:sp>
      <p:sp>
        <p:nvSpPr>
          <p:cNvPr id="36" name="Rectangle 35"/>
          <p:cNvSpPr/>
          <p:nvPr/>
        </p:nvSpPr>
        <p:spPr>
          <a:xfrm>
            <a:off x="713232" y="5724144"/>
            <a:ext cx="10765231" cy="603504"/>
          </a:xfrm>
          <a:prstGeom prst="rect">
            <a:avLst/>
          </a:prstGeom>
          <a:solidFill>
            <a:srgbClr val="F7F0E2"/>
          </a:solidFill>
          <a:ln w="11430">
            <a:solidFill>
              <a:srgbClr val="E6D7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5833872"/>
            <a:ext cx="10362895" cy="420624"/>
          </a:xfrm>
          <a:prstGeom prst="rect">
            <a:avLst/>
          </a:prstGeom>
          <a:noFill/>
        </p:spPr>
        <p:txBody>
          <a:bodyPr wrap="square" lIns="0" rIns="0" tIns="0" bIns="0" anchor="t">
            <a:spAutoFit/>
          </a:bodyPr>
          <a:lstStyle/>
          <a:p>
            <a:pPr algn="l">
              <a:lnSpc>
                <a:spcPct val="130000"/>
              </a:lnSpc>
              <a:spcAft>
                <a:spcPts val="600"/>
              </a:spcAft>
            </a:pPr>
            <a:r>
              <a:rPr sz="1100" b="1">
                <a:solidFill>
                  <a:srgbClr val="7A5618"/>
                </a:solidFill>
                <a:latin typeface="Calibri"/>
              </a:rPr>
              <a:t>On sizing the problem: </a:t>
            </a:r>
            <a:r>
              <a:rPr sz="1100" b="0">
                <a:solidFill>
                  <a:srgbClr val="4A4845"/>
                </a:solidFill>
                <a:latin typeface="Calibri"/>
              </a:rPr>
              <a:t>I could not find a credible public figure for what this asymmetry costs, and I will not invent one. Measuring it means asking firms how many opportunities they learn about too late — the first thing I would test.</a:t>
            </a:r>
          </a:p>
        </p:txBody>
      </p:sp>
      <p:sp>
        <p:nvSpPr>
          <p:cNvPr id="38" name="TextBox 37"/>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Positioning · Other stakeholders</a:t>
            </a:r>
          </a:p>
        </p:txBody>
      </p:sp>
      <p:sp>
        <p:nvSpPr>
          <p:cNvPr id="39" name="TextBox 38"/>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HONESTY</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What is not true about this yet</a:t>
            </a:r>
          </a:p>
        </p:txBody>
      </p:sp>
      <p:sp>
        <p:nvSpPr>
          <p:cNvPr id="5" name="TextBox 4"/>
          <p:cNvSpPr txBox="1"/>
          <p:nvPr/>
        </p:nvSpPr>
        <p:spPr>
          <a:xfrm>
            <a:off x="713232" y="1517904"/>
            <a:ext cx="8778240" cy="640080"/>
          </a:xfrm>
          <a:prstGeom prst="rect">
            <a:avLst/>
          </a:prstGeom>
          <a:noFill/>
        </p:spPr>
        <p:txBody>
          <a:bodyPr wrap="square" lIns="0" rIns="0" tIns="0" bIns="0" anchor="t">
            <a:spAutoFit/>
          </a:bodyPr>
          <a:lstStyle/>
          <a:p>
            <a:pPr algn="l">
              <a:lnSpc>
                <a:spcPct val="140000"/>
              </a:lnSpc>
              <a:spcBef>
                <a:spcPts val="0"/>
              </a:spcBef>
              <a:spcAft>
                <a:spcPts val="0"/>
              </a:spcAft>
            </a:pPr>
            <a:r>
              <a:rPr sz="1450" b="0" i="0">
                <a:solidFill>
                  <a:srgbClr val="4A4845"/>
                </a:solidFill>
                <a:latin typeface="Calibri"/>
              </a:rPr>
              <a:t>Stated here rather than discovered later. The product repeats all of this on its own Sources &amp; Method page.</a:t>
            </a:r>
          </a:p>
        </p:txBody>
      </p:sp>
      <p:sp>
        <p:nvSpPr>
          <p:cNvPr id="6" name="Rectangle 5"/>
          <p:cNvSpPr/>
          <p:nvPr/>
        </p:nvSpPr>
        <p:spPr>
          <a:xfrm>
            <a:off x="713232" y="2121408"/>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395728"/>
            <a:ext cx="33020" cy="658368"/>
          </a:xfrm>
          <a:prstGeom prst="rect">
            <a:avLst/>
          </a:prstGeom>
          <a:solidFill>
            <a:srgbClr val="7D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95728"/>
            <a:ext cx="10564063" cy="658368"/>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1A1A1A"/>
                </a:solidFill>
                <a:latin typeface="Calibri"/>
              </a:rPr>
              <a:t>The source links are not yet confirmed first-hand</a:t>
            </a:r>
          </a:p>
          <a:p>
            <a:pPr>
              <a:lnSpc>
                <a:spcPct val="133000"/>
              </a:lnSpc>
              <a:spcBef>
                <a:spcPts val="0"/>
              </a:spcBef>
              <a:spcAft>
                <a:spcPts val="600"/>
              </a:spcAft>
            </a:pPr>
            <a:r>
              <a:rPr sz="1100" b="0" i="0">
                <a:solidFill>
                  <a:srgbClr val="4A4845"/>
                </a:solidFill>
                <a:latin typeface="Calibri"/>
              </a:rPr>
              <a:t>I identified them through search. The build environment blocked opening pages directly, so each link still needs to be read and confirmed. The app ships a Verify checklist for exactly this, and nothing should be presented as fact until that is done.</a:t>
            </a:r>
          </a:p>
        </p:txBody>
      </p:sp>
      <p:sp>
        <p:nvSpPr>
          <p:cNvPr id="9" name="Rectangle 8"/>
          <p:cNvSpPr/>
          <p:nvPr/>
        </p:nvSpPr>
        <p:spPr>
          <a:xfrm>
            <a:off x="713232" y="3182112"/>
            <a:ext cx="33020" cy="658368"/>
          </a:xfrm>
          <a:prstGeom prst="rect">
            <a:avLst/>
          </a:prstGeom>
          <a:solidFill>
            <a:srgbClr val="7D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82112"/>
            <a:ext cx="10564063" cy="658368"/>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1A1A1A"/>
                </a:solidFill>
                <a:latin typeface="Calibri"/>
              </a:rPr>
              <a:t>No user research exists</a:t>
            </a:r>
          </a:p>
          <a:p>
            <a:pPr>
              <a:lnSpc>
                <a:spcPct val="133000"/>
              </a:lnSpc>
              <a:spcBef>
                <a:spcPts val="0"/>
              </a:spcBef>
              <a:spcAft>
                <a:spcPts val="600"/>
              </a:spcAft>
            </a:pPr>
            <a:r>
              <a:rPr sz="1100" b="0" i="0">
                <a:solidFill>
                  <a:srgbClr val="4A4845"/>
                </a:solidFill>
                <a:latin typeface="Calibri"/>
              </a:rPr>
              <a:t>I have not interviewed a single recruitment or staffing professional. Every statement about what they need is my reasoning, not a finding. The alternatives slide marks which claims I tested myself and which I assumed.</a:t>
            </a:r>
          </a:p>
        </p:txBody>
      </p:sp>
      <p:sp>
        <p:nvSpPr>
          <p:cNvPr id="11" name="Rectangle 10"/>
          <p:cNvSpPr/>
          <p:nvPr/>
        </p:nvSpPr>
        <p:spPr>
          <a:xfrm>
            <a:off x="713232" y="3968496"/>
            <a:ext cx="33020" cy="658368"/>
          </a:xfrm>
          <a:prstGeom prst="rect">
            <a:avLst/>
          </a:prstGeom>
          <a:solidFill>
            <a:srgbClr val="7A5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68496"/>
            <a:ext cx="10564063" cy="658368"/>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1A1A1A"/>
                </a:solidFill>
                <a:latin typeface="Calibri"/>
              </a:rPr>
              <a:t>20 records is a sample, not a market</a:t>
            </a:r>
          </a:p>
          <a:p>
            <a:pPr>
              <a:lnSpc>
                <a:spcPct val="133000"/>
              </a:lnSpc>
              <a:spcBef>
                <a:spcPts val="0"/>
              </a:spcBef>
              <a:spcAft>
                <a:spcPts val="600"/>
              </a:spcAft>
            </a:pPr>
            <a:r>
              <a:rPr sz="1100" b="0" i="0">
                <a:solidFill>
                  <a:srgbClr val="4A4845"/>
                </a:solidFill>
                <a:latin typeface="Calibri"/>
              </a:rPr>
              <a:t>Coverage is skewed toward cities and states with active press communications. A count here measures reporting volume, not real activity.</a:t>
            </a:r>
          </a:p>
        </p:txBody>
      </p:sp>
      <p:sp>
        <p:nvSpPr>
          <p:cNvPr id="13" name="Rectangle 12"/>
          <p:cNvSpPr/>
          <p:nvPr/>
        </p:nvSpPr>
        <p:spPr>
          <a:xfrm>
            <a:off x="713232" y="4754880"/>
            <a:ext cx="33020" cy="658368"/>
          </a:xfrm>
          <a:prstGeom prst="rect">
            <a:avLst/>
          </a:prstGeom>
          <a:solidFill>
            <a:srgbClr val="7A5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54880"/>
            <a:ext cx="10564063" cy="658368"/>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1A1A1A"/>
                </a:solidFill>
                <a:latin typeface="Calibri"/>
              </a:rPr>
              <a:t>It cannot predict, and does not try</a:t>
            </a:r>
          </a:p>
          <a:p>
            <a:pPr>
              <a:lnSpc>
                <a:spcPct val="133000"/>
              </a:lnSpc>
              <a:spcBef>
                <a:spcPts val="0"/>
              </a:spcBef>
              <a:spcAft>
                <a:spcPts val="600"/>
              </a:spcAft>
            </a:pPr>
            <a:r>
              <a:rPr sz="1100" b="0" i="0">
                <a:solidFill>
                  <a:srgbClr val="4A4845"/>
                </a:solidFill>
                <a:latin typeface="Calibri"/>
              </a:rPr>
              <a:t>I looked for evidence that public signals give reliable early warning of GCC setups. I did not find enough to support that claim, so the product does not make it.</a:t>
            </a:r>
          </a:p>
        </p:txBody>
      </p:sp>
      <p:sp>
        <p:nvSpPr>
          <p:cNvPr id="15" name="Rectangle 14"/>
          <p:cNvSpPr/>
          <p:nvPr/>
        </p:nvSpPr>
        <p:spPr>
          <a:xfrm>
            <a:off x="713232" y="5541264"/>
            <a:ext cx="33020" cy="658368"/>
          </a:xfrm>
          <a:prstGeom prst="rect">
            <a:avLst/>
          </a:prstGeom>
          <a:solidFill>
            <a:srgbClr val="7A5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541264"/>
            <a:ext cx="10564063" cy="658368"/>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1A1A1A"/>
                </a:solidFill>
                <a:latin typeface="Calibri"/>
              </a:rPr>
              <a:t>"Ask" is keyword search, not AI</a:t>
            </a:r>
          </a:p>
          <a:p>
            <a:pPr>
              <a:lnSpc>
                <a:spcPct val="133000"/>
              </a:lnSpc>
              <a:spcBef>
                <a:spcPts val="0"/>
              </a:spcBef>
              <a:spcAft>
                <a:spcPts val="600"/>
              </a:spcAft>
            </a:pPr>
            <a:r>
              <a:rPr sz="1100" b="0" i="0">
                <a:solidFill>
                  <a:srgbClr val="4A4845"/>
                </a:solidFill>
                <a:latin typeface="Calibri"/>
              </a:rPr>
              <a:t>It scores records by word overlap and detects a few patterns. The app says so on the page itself. No model, no API key, no cost.</a:t>
            </a:r>
          </a:p>
        </p:txBody>
      </p:sp>
      <p:sp>
        <p:nvSpPr>
          <p:cNvPr id="17" name="TextBox 16"/>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Limitations &amp; assumptions</a:t>
            </a:r>
          </a:p>
        </p:txBody>
      </p:sp>
      <p:sp>
        <p:nvSpPr>
          <p:cNvPr id="18" name="TextBox 17"/>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75488"/>
            <a:ext cx="10765231" cy="237744"/>
          </a:xfrm>
          <a:prstGeom prst="rect">
            <a:avLst/>
          </a:prstGeom>
          <a:noFill/>
        </p:spPr>
        <p:txBody>
          <a:bodyPr wrap="square" lIns="0" rIns="0" tIns="0" bIns="0" anchor="t">
            <a:spAutoFit/>
          </a:bodyPr>
          <a:lstStyle/>
          <a:p>
            <a:pPr algn="l">
              <a:lnSpc>
                <a:spcPct val="135000"/>
              </a:lnSpc>
              <a:spcBef>
                <a:spcPts val="0"/>
              </a:spcBef>
              <a:spcAft>
                <a:spcPts val="0"/>
              </a:spcAft>
            </a:pPr>
            <a:r>
              <a:rPr sz="1050" b="1" i="0">
                <a:solidFill>
                  <a:srgbClr val="7A7772"/>
                </a:solidFill>
                <a:latin typeface="Calibri"/>
              </a:rPr>
              <a:t>NEXT</a:t>
            </a:r>
          </a:p>
        </p:txBody>
      </p:sp>
      <p:sp>
        <p:nvSpPr>
          <p:cNvPr id="4" name="TextBox 3"/>
          <p:cNvSpPr txBox="1"/>
          <p:nvPr/>
        </p:nvSpPr>
        <p:spPr>
          <a:xfrm>
            <a:off x="713232" y="768096"/>
            <a:ext cx="10765231" cy="914400"/>
          </a:xfrm>
          <a:prstGeom prst="rect">
            <a:avLst/>
          </a:prstGeom>
          <a:noFill/>
        </p:spPr>
        <p:txBody>
          <a:bodyPr wrap="square" lIns="0" rIns="0" tIns="0" bIns="0" anchor="t">
            <a:spAutoFit/>
          </a:bodyPr>
          <a:lstStyle/>
          <a:p>
            <a:pPr algn="l">
              <a:lnSpc>
                <a:spcPct val="112000"/>
              </a:lnSpc>
              <a:spcBef>
                <a:spcPts val="0"/>
              </a:spcBef>
              <a:spcAft>
                <a:spcPts val="0"/>
              </a:spcAft>
            </a:pPr>
            <a:r>
              <a:rPr sz="3200" b="0" i="0">
                <a:solidFill>
                  <a:srgbClr val="1A1A1A"/>
                </a:solidFill>
                <a:latin typeface="Georgia"/>
              </a:rPr>
              <a:t>What I would do next, in order</a:t>
            </a:r>
          </a:p>
        </p:txBody>
      </p:sp>
      <p:sp>
        <p:nvSpPr>
          <p:cNvPr id="5" name="Rectangle 4"/>
          <p:cNvSpPr/>
          <p:nvPr/>
        </p:nvSpPr>
        <p:spPr>
          <a:xfrm>
            <a:off x="713232" y="1426464"/>
            <a:ext cx="10765231" cy="11430"/>
          </a:xfrm>
          <a:prstGeom prst="rect">
            <a:avLst/>
          </a:prstGeom>
          <a:solidFill>
            <a:srgbClr val="E2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13232" y="1837944"/>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7" name="TextBox 6"/>
          <p:cNvSpPr txBox="1"/>
          <p:nvPr/>
        </p:nvSpPr>
        <p:spPr>
          <a:xfrm>
            <a:off x="1207008" y="1783080"/>
            <a:ext cx="8412480" cy="731520"/>
          </a:xfrm>
          <a:prstGeom prst="rect">
            <a:avLst/>
          </a:prstGeom>
          <a:noFill/>
        </p:spPr>
        <p:txBody>
          <a:bodyPr wrap="square" lIns="0" rIns="0" tIns="0" bIns="0" anchor="t">
            <a:spAutoFit/>
          </a:bodyPr>
          <a:lstStyle/>
          <a:p>
            <a:pPr algn="l">
              <a:lnSpc>
                <a:spcPct val="135000"/>
              </a:lnSpc>
              <a:spcBef>
                <a:spcPts val="0"/>
              </a:spcBef>
              <a:spcAft>
                <a:spcPts val="300"/>
              </a:spcAft>
            </a:pPr>
            <a:r>
              <a:rPr sz="1350" b="1" i="0">
                <a:solidFill>
                  <a:srgbClr val="1A1A1A"/>
                </a:solidFill>
                <a:latin typeface="Calibri"/>
              </a:rPr>
              <a:t>Confirm all 47 sources</a:t>
            </a:r>
          </a:p>
          <a:p>
            <a:pPr>
              <a:lnSpc>
                <a:spcPct val="135000"/>
              </a:lnSpc>
              <a:spcBef>
                <a:spcPts val="0"/>
              </a:spcBef>
              <a:spcAft>
                <a:spcPts val="600"/>
              </a:spcAft>
            </a:pPr>
            <a:r>
              <a:rPr sz="1150" b="0" i="0">
                <a:solidFill>
                  <a:srgbClr val="4A4845"/>
                </a:solidFill>
                <a:latin typeface="Calibri"/>
              </a:rPr>
              <a:t>Open every link, confirm it supports the record, log who checked it and when. Nothing else matters until this is done.</a:t>
            </a:r>
          </a:p>
        </p:txBody>
      </p:sp>
      <p:sp>
        <p:nvSpPr>
          <p:cNvPr id="8" name="Rectangle 7"/>
          <p:cNvSpPr/>
          <p:nvPr/>
        </p:nvSpPr>
        <p:spPr>
          <a:xfrm>
            <a:off x="10289743" y="1828800"/>
            <a:ext cx="1188720" cy="237744"/>
          </a:xfrm>
          <a:prstGeom prst="rect">
            <a:avLst/>
          </a:prstGeom>
          <a:solidFill>
            <a:srgbClr val="F4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7772"/>
                </a:solidFill>
                <a:latin typeface="Calibri"/>
              </a:rPr>
              <a:t>Half a day</a:t>
            </a:r>
          </a:p>
        </p:txBody>
      </p:sp>
      <p:sp>
        <p:nvSpPr>
          <p:cNvPr id="9" name="Oval 8"/>
          <p:cNvSpPr/>
          <p:nvPr/>
        </p:nvSpPr>
        <p:spPr>
          <a:xfrm>
            <a:off x="713232" y="2697480"/>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0" name="TextBox 9"/>
          <p:cNvSpPr txBox="1"/>
          <p:nvPr/>
        </p:nvSpPr>
        <p:spPr>
          <a:xfrm>
            <a:off x="1207008" y="2642616"/>
            <a:ext cx="8412480" cy="731520"/>
          </a:xfrm>
          <a:prstGeom prst="rect">
            <a:avLst/>
          </a:prstGeom>
          <a:noFill/>
        </p:spPr>
        <p:txBody>
          <a:bodyPr wrap="square" lIns="0" rIns="0" tIns="0" bIns="0" anchor="t">
            <a:spAutoFit/>
          </a:bodyPr>
          <a:lstStyle/>
          <a:p>
            <a:pPr algn="l">
              <a:lnSpc>
                <a:spcPct val="135000"/>
              </a:lnSpc>
              <a:spcBef>
                <a:spcPts val="0"/>
              </a:spcBef>
              <a:spcAft>
                <a:spcPts val="300"/>
              </a:spcAft>
            </a:pPr>
            <a:r>
              <a:rPr sz="1350" b="1" i="0">
                <a:solidFill>
                  <a:srgbClr val="1A1A1A"/>
                </a:solidFill>
                <a:latin typeface="Calibri"/>
              </a:rPr>
              <a:t>Talk to eight people who do this job</a:t>
            </a:r>
          </a:p>
          <a:p>
            <a:pPr>
              <a:lnSpc>
                <a:spcPct val="135000"/>
              </a:lnSpc>
              <a:spcBef>
                <a:spcPts val="0"/>
              </a:spcBef>
              <a:spcAft>
                <a:spcPts val="600"/>
              </a:spcAft>
            </a:pPr>
            <a:r>
              <a:rPr sz="1150" b="0" i="0">
                <a:solidFill>
                  <a:srgbClr val="4A4845"/>
                </a:solidFill>
                <a:latin typeface="Calibri"/>
              </a:rPr>
              <a:t>Recruitment and staffing BD leads. One question above all: what do you use today, and what would make you stop using it? This is the assumption the whole product rests on.</a:t>
            </a:r>
          </a:p>
        </p:txBody>
      </p:sp>
      <p:sp>
        <p:nvSpPr>
          <p:cNvPr id="11" name="Rectangle 10"/>
          <p:cNvSpPr/>
          <p:nvPr/>
        </p:nvSpPr>
        <p:spPr>
          <a:xfrm>
            <a:off x="10289743" y="2688336"/>
            <a:ext cx="1188720" cy="237744"/>
          </a:xfrm>
          <a:prstGeom prst="rect">
            <a:avLst/>
          </a:prstGeom>
          <a:solidFill>
            <a:srgbClr val="F4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7772"/>
                </a:solidFill>
                <a:latin typeface="Calibri"/>
              </a:rPr>
              <a:t>One week</a:t>
            </a:r>
          </a:p>
        </p:txBody>
      </p:sp>
      <p:sp>
        <p:nvSpPr>
          <p:cNvPr id="12" name="Oval 11"/>
          <p:cNvSpPr/>
          <p:nvPr/>
        </p:nvSpPr>
        <p:spPr>
          <a:xfrm>
            <a:off x="713232" y="3557016"/>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3" name="TextBox 12"/>
          <p:cNvSpPr txBox="1"/>
          <p:nvPr/>
        </p:nvSpPr>
        <p:spPr>
          <a:xfrm>
            <a:off x="1207008" y="3502152"/>
            <a:ext cx="8412480" cy="731520"/>
          </a:xfrm>
          <a:prstGeom prst="rect">
            <a:avLst/>
          </a:prstGeom>
          <a:noFill/>
        </p:spPr>
        <p:txBody>
          <a:bodyPr wrap="square" lIns="0" rIns="0" tIns="0" bIns="0" anchor="t">
            <a:spAutoFit/>
          </a:bodyPr>
          <a:lstStyle/>
          <a:p>
            <a:pPr algn="l">
              <a:lnSpc>
                <a:spcPct val="135000"/>
              </a:lnSpc>
              <a:spcBef>
                <a:spcPts val="0"/>
              </a:spcBef>
              <a:spcAft>
                <a:spcPts val="300"/>
              </a:spcAft>
            </a:pPr>
            <a:r>
              <a:rPr sz="1350" b="1" i="0">
                <a:solidFill>
                  <a:srgbClr val="1A1A1A"/>
                </a:solidFill>
                <a:latin typeface="Calibri"/>
              </a:rPr>
              <a:t>Test whether state MoUs are an early signal</a:t>
            </a:r>
          </a:p>
          <a:p>
            <a:pPr>
              <a:lnSpc>
                <a:spcPct val="135000"/>
              </a:lnSpc>
              <a:spcBef>
                <a:spcPts val="0"/>
              </a:spcBef>
              <a:spcAft>
                <a:spcPts val="600"/>
              </a:spcAft>
            </a:pPr>
            <a:r>
              <a:rPr sz="1150" b="0" i="0">
                <a:solidFill>
                  <a:srgbClr val="4A4845"/>
                </a:solidFill>
                <a:latin typeface="Calibri"/>
              </a:rPr>
              <a:t>One record here shows roughly 17 months between a state MoU and an opening. If that holds across 20 more cases, it is a genuinely earlier signal than anything in the dataset today.</a:t>
            </a:r>
          </a:p>
        </p:txBody>
      </p:sp>
      <p:sp>
        <p:nvSpPr>
          <p:cNvPr id="14" name="Rectangle 13"/>
          <p:cNvSpPr/>
          <p:nvPr/>
        </p:nvSpPr>
        <p:spPr>
          <a:xfrm>
            <a:off x="10289743" y="3547872"/>
            <a:ext cx="1188720" cy="237744"/>
          </a:xfrm>
          <a:prstGeom prst="rect">
            <a:avLst/>
          </a:prstGeom>
          <a:solidFill>
            <a:srgbClr val="F4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7772"/>
                </a:solidFill>
                <a:latin typeface="Calibri"/>
              </a:rPr>
              <a:t>One week</a:t>
            </a:r>
          </a:p>
        </p:txBody>
      </p:sp>
      <p:sp>
        <p:nvSpPr>
          <p:cNvPr id="15" name="Oval 14"/>
          <p:cNvSpPr/>
          <p:nvPr/>
        </p:nvSpPr>
        <p:spPr>
          <a:xfrm>
            <a:off x="713232" y="4416552"/>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16" name="TextBox 15"/>
          <p:cNvSpPr txBox="1"/>
          <p:nvPr/>
        </p:nvSpPr>
        <p:spPr>
          <a:xfrm>
            <a:off x="1207008" y="4361688"/>
            <a:ext cx="8412480" cy="731520"/>
          </a:xfrm>
          <a:prstGeom prst="rect">
            <a:avLst/>
          </a:prstGeom>
          <a:noFill/>
        </p:spPr>
        <p:txBody>
          <a:bodyPr wrap="square" lIns="0" rIns="0" tIns="0" bIns="0" anchor="t">
            <a:spAutoFit/>
          </a:bodyPr>
          <a:lstStyle/>
          <a:p>
            <a:pPr algn="l">
              <a:lnSpc>
                <a:spcPct val="135000"/>
              </a:lnSpc>
              <a:spcBef>
                <a:spcPts val="0"/>
              </a:spcBef>
              <a:spcAft>
                <a:spcPts val="300"/>
              </a:spcAft>
            </a:pPr>
            <a:r>
              <a:rPr sz="1350" b="1" i="0">
                <a:solidFill>
                  <a:srgbClr val="1A1A1A"/>
                </a:solidFill>
                <a:latin typeface="Calibri"/>
              </a:rPr>
              <a:t>Widen coverage with a repeatable method</a:t>
            </a:r>
          </a:p>
          <a:p>
            <a:pPr>
              <a:lnSpc>
                <a:spcPct val="135000"/>
              </a:lnSpc>
              <a:spcBef>
                <a:spcPts val="0"/>
              </a:spcBef>
              <a:spcAft>
                <a:spcPts val="600"/>
              </a:spcAft>
            </a:pPr>
            <a:r>
              <a:rPr sz="1150" b="0" i="0">
                <a:solidFill>
                  <a:srgbClr val="4A4845"/>
                </a:solidFill>
                <a:latin typeface="Calibri"/>
              </a:rPr>
              <a:t>Move from manual searching to a defined collection process, and record why each candidate was included or excluded.</a:t>
            </a:r>
          </a:p>
        </p:txBody>
      </p:sp>
      <p:sp>
        <p:nvSpPr>
          <p:cNvPr id="17" name="Rectangle 16"/>
          <p:cNvSpPr/>
          <p:nvPr/>
        </p:nvSpPr>
        <p:spPr>
          <a:xfrm>
            <a:off x="10289743" y="4407408"/>
            <a:ext cx="1188720" cy="237744"/>
          </a:xfrm>
          <a:prstGeom prst="rect">
            <a:avLst/>
          </a:prstGeom>
          <a:solidFill>
            <a:srgbClr val="F4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7772"/>
                </a:solidFill>
                <a:latin typeface="Calibri"/>
              </a:rPr>
              <a:t>Two weeks</a:t>
            </a:r>
          </a:p>
        </p:txBody>
      </p:sp>
      <p:sp>
        <p:nvSpPr>
          <p:cNvPr id="18" name="Oval 17"/>
          <p:cNvSpPr/>
          <p:nvPr/>
        </p:nvSpPr>
        <p:spPr>
          <a:xfrm>
            <a:off x="713232" y="5276088"/>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19" name="TextBox 18"/>
          <p:cNvSpPr txBox="1"/>
          <p:nvPr/>
        </p:nvSpPr>
        <p:spPr>
          <a:xfrm>
            <a:off x="1207008" y="5221224"/>
            <a:ext cx="8412480" cy="731520"/>
          </a:xfrm>
          <a:prstGeom prst="rect">
            <a:avLst/>
          </a:prstGeom>
          <a:noFill/>
        </p:spPr>
        <p:txBody>
          <a:bodyPr wrap="square" lIns="0" rIns="0" tIns="0" bIns="0" anchor="t">
            <a:spAutoFit/>
          </a:bodyPr>
          <a:lstStyle/>
          <a:p>
            <a:pPr algn="l">
              <a:lnSpc>
                <a:spcPct val="135000"/>
              </a:lnSpc>
              <a:spcBef>
                <a:spcPts val="0"/>
              </a:spcBef>
              <a:spcAft>
                <a:spcPts val="300"/>
              </a:spcAft>
            </a:pPr>
            <a:r>
              <a:rPr sz="1350" b="1" i="0">
                <a:solidFill>
                  <a:srgbClr val="1A1A1A"/>
                </a:solidFill>
                <a:latin typeface="Calibri"/>
              </a:rPr>
              <a:t>Add company registry data</a:t>
            </a:r>
          </a:p>
          <a:p>
            <a:pPr>
              <a:lnSpc>
                <a:spcPct val="135000"/>
              </a:lnSpc>
              <a:spcBef>
                <a:spcPts val="0"/>
              </a:spcBef>
              <a:spcAft>
                <a:spcPts val="600"/>
              </a:spcAft>
            </a:pPr>
            <a:r>
              <a:rPr sz="1150" b="0" i="0">
                <a:solidFill>
                  <a:srgbClr val="4A4845"/>
                </a:solidFill>
                <a:latin typeface="Calibri"/>
              </a:rPr>
              <a:t>Tie each centre to its Indian legal entity, so the same company is never counted twice under two names.</a:t>
            </a:r>
          </a:p>
        </p:txBody>
      </p:sp>
      <p:sp>
        <p:nvSpPr>
          <p:cNvPr id="20" name="Rectangle 19"/>
          <p:cNvSpPr/>
          <p:nvPr/>
        </p:nvSpPr>
        <p:spPr>
          <a:xfrm>
            <a:off x="10289743" y="5266944"/>
            <a:ext cx="1188720" cy="237744"/>
          </a:xfrm>
          <a:prstGeom prst="rect">
            <a:avLst/>
          </a:prstGeom>
          <a:solidFill>
            <a:srgbClr val="F4F2EE"/>
          </a:solidFill>
          <a:ln>
            <a:noFill/>
          </a:ln>
          <a:effectLst/>
        </p:spPr>
        <p:style>
          <a:lnRef idx="1">
            <a:schemeClr val="accent1"/>
          </a:lnRef>
          <a:fillRef idx="3">
            <a:schemeClr val="accent1"/>
          </a:fillRef>
          <a:effectRef idx="2">
            <a:schemeClr val="accent1"/>
          </a:effectRef>
          <a:fontRef idx="minor">
            <a:schemeClr val="lt1"/>
          </a:fontRef>
        </p:style>
        <p:txBody>
          <a:bodyPr rtlCol="0" anchor="ctr" lIns="64008" rIns="64008" tIns="0" bIns="0"/>
          <a:lstStyle/>
          <a:p>
            <a:pPr algn="ctr"/>
            <a:r>
              <a:rPr sz="950" b="1">
                <a:solidFill>
                  <a:srgbClr val="7A7772"/>
                </a:solidFill>
                <a:latin typeface="Calibri"/>
              </a:rPr>
              <a:t>Later</a:t>
            </a:r>
          </a:p>
        </p:txBody>
      </p:sp>
      <p:sp>
        <p:nvSpPr>
          <p:cNvPr id="21" name="TextBox 20"/>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Next steps</a:t>
            </a:r>
          </a:p>
        </p:txBody>
      </p:sp>
      <p:sp>
        <p:nvSpPr>
          <p:cNvPr id="22" name="TextBox 21"/>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691640"/>
            <a:ext cx="9509760" cy="914400"/>
          </a:xfrm>
          <a:prstGeom prst="rect">
            <a:avLst/>
          </a:prstGeom>
          <a:noFill/>
        </p:spPr>
        <p:txBody>
          <a:bodyPr wrap="square" lIns="0" rIns="0" tIns="0" bIns="0" anchor="t">
            <a:spAutoFit/>
          </a:bodyPr>
          <a:lstStyle/>
          <a:p>
            <a:pPr algn="l">
              <a:lnSpc>
                <a:spcPct val="135000"/>
              </a:lnSpc>
              <a:spcBef>
                <a:spcPts val="0"/>
              </a:spcBef>
              <a:spcAft>
                <a:spcPts val="1600"/>
              </a:spcAft>
            </a:pPr>
            <a:r>
              <a:rPr sz="1500" b="1" i="0">
                <a:solidFill>
                  <a:srgbClr val="7A7772"/>
                </a:solidFill>
                <a:latin typeface="Calibri"/>
              </a:rPr>
              <a:t>The argument in one line</a:t>
            </a:r>
          </a:p>
          <a:p>
            <a:pPr>
              <a:lnSpc>
                <a:spcPct val="125000"/>
              </a:lnSpc>
              <a:spcBef>
                <a:spcPts val="0"/>
              </a:spcBef>
              <a:spcAft>
                <a:spcPts val="2000"/>
              </a:spcAft>
            </a:pPr>
            <a:r>
              <a:rPr sz="3000" b="0" i="0">
                <a:solidFill>
                  <a:srgbClr val="1A1A1A"/>
                </a:solidFill>
                <a:latin typeface="Georgia"/>
              </a:rPr>
              <a:t>This market does not lack information.
It lacks information you can check.</a:t>
            </a:r>
          </a:p>
        </p:txBody>
      </p:sp>
      <p:sp>
        <p:nvSpPr>
          <p:cNvPr id="5" name="Rectangle 4"/>
          <p:cNvSpPr/>
          <p:nvPr/>
        </p:nvSpPr>
        <p:spPr>
          <a:xfrm>
            <a:off x="1143000" y="3886200"/>
            <a:ext cx="1828800" cy="1143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4206240"/>
            <a:ext cx="9144000" cy="1463040"/>
          </a:xfrm>
          <a:prstGeom prst="rect">
            <a:avLst/>
          </a:prstGeom>
          <a:noFill/>
        </p:spPr>
        <p:txBody>
          <a:bodyPr wrap="square" lIns="0" rIns="0" tIns="0" bIns="0" anchor="t">
            <a:spAutoFit/>
          </a:bodyPr>
          <a:lstStyle/>
          <a:p>
            <a:pPr algn="l">
              <a:lnSpc>
                <a:spcPct val="145000"/>
              </a:lnSpc>
              <a:spcBef>
                <a:spcPts val="0"/>
              </a:spcBef>
              <a:spcAft>
                <a:spcPts val="1400"/>
              </a:spcAft>
            </a:pPr>
            <a:r>
              <a:rPr sz="1450" b="0" i="0">
                <a:solidFill>
                  <a:srgbClr val="4A4845"/>
                </a:solidFill>
                <a:latin typeface="Calibri"/>
              </a:rPr>
              <a:t>GCC Atlas is 20 records, 47 sources and five cities. It is small on purpose. Every claim in it points at something you can open, every interpretation is labelled as mine, and everything it does not know is written down.</a:t>
            </a:r>
          </a:p>
          <a:p>
            <a:pPr>
              <a:lnSpc>
                <a:spcPct val="135000"/>
              </a:lnSpc>
              <a:spcAft>
                <a:spcPts val="600"/>
              </a:spcAft>
            </a:pPr>
            <a:r>
              <a:rPr sz="1250" b="1">
                <a:solidFill>
                  <a:srgbClr val="1A1A1A"/>
                </a:solidFill>
                <a:latin typeface="Calibri"/>
              </a:rPr>
              <a:t>Prototype: </a:t>
            </a:r>
            <a:r>
              <a:rPr sz="1250" b="0">
                <a:solidFill>
                  <a:srgbClr val="4A4845"/>
                </a:solidFill>
                <a:latin typeface="Calibri"/>
              </a:rPr>
              <a:t>open index.html — no install, no account, no internet needed.   </a:t>
            </a:r>
            <a:r>
              <a:rPr sz="1250" b="1">
                <a:solidFill>
                  <a:srgbClr val="1A1A1A"/>
                </a:solidFill>
                <a:latin typeface="Calibri"/>
              </a:rPr>
              <a:t>Dataset: </a:t>
            </a:r>
            <a:r>
              <a:rPr sz="1250" b="0">
                <a:solidFill>
                  <a:srgbClr val="4A4845"/>
                </a:solidFill>
                <a:latin typeface="Calibri"/>
              </a:rPr>
              <a:t>data/records.js.</a:t>
            </a:r>
          </a:p>
        </p:txBody>
      </p:sp>
      <p:sp>
        <p:nvSpPr>
          <p:cNvPr id="7" name="TextBox 6"/>
          <p:cNvSpPr txBox="1"/>
          <p:nvPr/>
        </p:nvSpPr>
        <p:spPr>
          <a:xfrm>
            <a:off x="713232" y="6382512"/>
            <a:ext cx="10765231" cy="237744"/>
          </a:xfrm>
          <a:prstGeom prst="rect">
            <a:avLst/>
          </a:prstGeom>
          <a:noFill/>
        </p:spPr>
        <p:txBody>
          <a:bodyPr wrap="square" lIns="0" rIns="0" tIns="0" bIns="0" anchor="t">
            <a:spAutoFit/>
          </a:bodyPr>
          <a:lstStyle/>
          <a:p>
            <a:pPr algn="l">
              <a:lnSpc>
                <a:spcPct val="135000"/>
              </a:lnSpc>
              <a:spcAft>
                <a:spcPts val="0"/>
              </a:spcAft>
            </a:pPr>
            <a:r>
              <a:rPr sz="950" b="1">
                <a:solidFill>
                  <a:srgbClr val="7A7772"/>
                </a:solidFill>
                <a:latin typeface="Calibri"/>
              </a:rPr>
              <a:t>GCC Atlas</a:t>
            </a:r>
            <a:r>
              <a:rPr sz="950" b="0">
                <a:solidFill>
                  <a:srgbClr val="7A7772"/>
                </a:solidFill>
                <a:latin typeface="Calibri"/>
              </a:rPr>
              <a:t>   ·   Close</a:t>
            </a:r>
          </a:p>
        </p:txBody>
      </p:sp>
      <p:sp>
        <p:nvSpPr>
          <p:cNvPr id="8" name="TextBox 7"/>
          <p:cNvSpPr txBox="1"/>
          <p:nvPr/>
        </p:nvSpPr>
        <p:spPr>
          <a:xfrm>
            <a:off x="10564063" y="6382512"/>
            <a:ext cx="914400" cy="237744"/>
          </a:xfrm>
          <a:prstGeom prst="rect">
            <a:avLst/>
          </a:prstGeom>
          <a:noFill/>
        </p:spPr>
        <p:txBody>
          <a:bodyPr wrap="square" lIns="0" rIns="0" tIns="0" bIns="0" anchor="t">
            <a:spAutoFit/>
          </a:bodyPr>
          <a:lstStyle/>
          <a:p>
            <a:pPr algn="r">
              <a:lnSpc>
                <a:spcPct val="135000"/>
              </a:lnSpc>
              <a:spcBef>
                <a:spcPts val="0"/>
              </a:spcBef>
              <a:spcAft>
                <a:spcPts val="0"/>
              </a:spcAft>
            </a:pPr>
            <a:r>
              <a:rPr sz="950" b="0" i="0">
                <a:solidFill>
                  <a:srgbClr val="7A7772"/>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